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36" name="Google Shape;36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2" name="Google Shape;42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9" name="Google Shape;4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6" name="Google Shape;5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Unidad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Control de versiones con Git</a:t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618600" y="3981338"/>
            <a:ext cx="76881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Prof: Lic. Rosales Pablo (prosales@unpata.edu.ar)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Materia: Programación Orientada a Objetos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Año: 2026</a:t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300" y="3692238"/>
            <a:ext cx="1136699" cy="113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0" y="214625"/>
            <a:ext cx="914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Departamento de Informática, Facultad de Ingeniería, Universidad Nacional de la Patagonia San Juan Bosco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727650" y="5714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El problema: versionar a mano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729450" y="1560000"/>
            <a:ext cx="76887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1500"/>
              <a:t>tp_final.zip · tp_final_v2.zip · tp_final_v2_corregido.zip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¿Cuál era la versión que andaba?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Toqué algo y dejó de compilar, pero no sé qué toqué.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Le pasé el proyecto a mi compañero, los dos lo modificamos, y ahora hay dos proyectos distintos.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300"/>
              <a:buNone/>
            </a:pPr>
            <a:r>
              <a:rPr lang="es" sz="1500"/>
              <a:t>Un sistema de control de versiones resuelve tres cosas: </a:t>
            </a:r>
            <a:r>
              <a:rPr b="1" lang="es" sz="1500"/>
              <a:t>historial confiable</a:t>
            </a:r>
            <a:r>
              <a:rPr lang="es" sz="1500"/>
              <a:t>, </a:t>
            </a:r>
            <a:r>
              <a:rPr b="1" lang="es" sz="1500"/>
              <a:t>poder volver atrás con precisión</a:t>
            </a:r>
            <a:r>
              <a:rPr lang="es" sz="1500"/>
              <a:t> y </a:t>
            </a:r>
            <a:r>
              <a:rPr b="1" lang="es" sz="1500"/>
              <a:t>trabajar de a varios sin pisarse</a:t>
            </a:r>
            <a:r>
              <a:rPr lang="es" sz="1500"/>
              <a:t>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729450" y="6043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Repositorio local y repositorio remoto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7294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500"/>
              <a:t>Git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Programa que gestiona el historial.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Vive en tu máquina y funciona sin internet.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Guarda todo en la carpeta oculta .git.</a:t>
            </a:r>
            <a:endParaRPr sz="1500"/>
          </a:p>
        </p:txBody>
      </p:sp>
      <p:sp>
        <p:nvSpPr>
          <p:cNvPr id="147" name="Google Shape;147;p27"/>
          <p:cNvSpPr txBox="1"/>
          <p:nvPr>
            <p:ph idx="2" type="body"/>
          </p:nvPr>
        </p:nvSpPr>
        <p:spPr>
          <a:xfrm>
            <a:off x="46981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500"/>
              <a:t>GitHub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Servicio que aloja repositorios en la nube.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Es el punto de encuentro del equipo.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Alternativas: GitLab, Bitbucket.</a:t>
            </a:r>
            <a:endParaRPr sz="15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500"/>
              <a:t>Git es distribuido: </a:t>
            </a:r>
            <a:r>
              <a:rPr lang="es" sz="1500"/>
              <a:t>cada integrante tiene una copia completa del proyecto y de todo su historial. El remoto no es "el original", es donde nos sincronizamos.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727650" y="5276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El camino de un cambio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727650" y="1384775"/>
            <a:ext cx="7688700" cy="3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 sz="1500"/>
              <a:t>Guardar en Git son dos pasos, no uno. </a:t>
            </a:r>
            <a:r>
              <a:rPr lang="es" sz="1500"/>
              <a:t>Primero elijo qué cambios entran en la próxima fotografía (git add); después la saco y queda en mi historial (git commit); recién con git push sale de mi computadora.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SzPts val="1100"/>
              <a:buNone/>
            </a:pPr>
            <a:r>
              <a:t/>
            </a:r>
            <a:endParaRPr sz="1500"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80373"/>
            <a:ext cx="9144001" cy="2254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729450" y="6590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El commit: una fotografía del proyecto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7294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500"/>
              <a:t>Qué guarda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Un identificador único (hash).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Autor y fecha: por eso configuramos nombre y correo.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El estado del proyecto en ese momento.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Un mensaje que explica el cambio.</a:t>
            </a:r>
            <a:endParaRPr sz="1500"/>
          </a:p>
        </p:txBody>
      </p:sp>
      <p:sp>
        <p:nvSpPr>
          <p:cNvPr id="162" name="Google Shape;162;p29"/>
          <p:cNvSpPr txBox="1"/>
          <p:nvPr>
            <p:ph idx="2" type="body"/>
          </p:nvPr>
        </p:nvSpPr>
        <p:spPr>
          <a:xfrm>
            <a:off x="46981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500"/>
              <a:t>Cómo se escribe el mensaje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Agrega clase Estudiante con legajo y nombre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Corrige el cálculo del promedio en Materia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buSzPts val="1300"/>
              <a:buNone/>
            </a:pPr>
            <a:r>
              <a:rPr lang="es" sz="1500"/>
              <a:t>En cambio: </a:t>
            </a:r>
            <a:r>
              <a:rPr b="1" lang="es" sz="1500"/>
              <a:t>"cambios", "asdasd", "ahora si"</a:t>
            </a:r>
            <a:r>
              <a:rPr lang="es" sz="1500"/>
              <a:t> no le dicen nada al equipo ni a ustedes mismos en tres semanas.</a:t>
            </a:r>
            <a:endParaRPr sz="1500"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lang="es" sz="1500"/>
              <a:t>Un commit es una unidad de trabajo con sentido propio: ni medio archivo suelto, ni tres funcionalidades mezcladas.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773275" y="6043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Los comandos de hoy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7294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git clone &lt;url&gt; — traer el repositorio por primera vez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git status — ¿en qué estado está todo?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git add &lt;archivo&gt; — preparar un cambio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git commit -m "mensaje" — confirmarlo en mi historial</a:t>
            </a:r>
            <a:endParaRPr sz="1500"/>
          </a:p>
        </p:txBody>
      </p:sp>
      <p:sp>
        <p:nvSpPr>
          <p:cNvPr id="170" name="Google Shape;170;p30"/>
          <p:cNvSpPr txBox="1"/>
          <p:nvPr>
            <p:ph idx="2" type="body"/>
          </p:nvPr>
        </p:nvSpPr>
        <p:spPr>
          <a:xfrm>
            <a:off x="46981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git push — publicarlo en el remoto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git pull — traer lo que subieron los demás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git diff — ver qué cambió, línea por línea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git log --oneline --graph --all — ver el historial</a:t>
            </a:r>
            <a:endParaRPr sz="1500"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lang="es" sz="1500"/>
              <a:t>Después de cada comando que modifique algo: </a:t>
            </a:r>
            <a:r>
              <a:rPr b="1" lang="es" sz="1500"/>
              <a:t>git status</a:t>
            </a:r>
            <a:r>
              <a:rPr lang="es" sz="1500"/>
              <a:t>. No cambia nada y siempre sugiere el próximo paso. Prohibidos por ahora: reset --hard, rebase y push --force.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674700" y="5714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Actividad: primer flujo de trabajo colaborativo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729450" y="1560000"/>
            <a:ext cx="76887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 sz="1500"/>
              <a:t>En parejas  Estudiante A (dueño del repo) y Estudiante B (colaborador)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Paso 0:  verificar el entorno: git --version, git config --global --list, gh auth status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Paso</a:t>
            </a:r>
            <a:r>
              <a:rPr lang="es" sz="1500"/>
              <a:t> 1 </a:t>
            </a:r>
            <a:r>
              <a:rPr lang="es" sz="1500"/>
              <a:t>:</a:t>
            </a:r>
            <a:r>
              <a:rPr lang="es" sz="1500"/>
              <a:t> A crea el repositorio en GitHub e invita a B como colaborador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Paso</a:t>
            </a:r>
            <a:r>
              <a:rPr lang="es" sz="1500"/>
              <a:t> 2 </a:t>
            </a:r>
            <a:r>
              <a:rPr lang="es" sz="1500"/>
              <a:t>: </a:t>
            </a:r>
            <a:r>
              <a:rPr lang="es" sz="1500"/>
              <a:t>los dos clonan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Paso</a:t>
            </a:r>
            <a:r>
              <a:rPr lang="es" sz="1500"/>
              <a:t> 3 </a:t>
            </a:r>
            <a:r>
              <a:rPr lang="es" sz="1500"/>
              <a:t>: </a:t>
            </a:r>
            <a:r>
              <a:rPr lang="es" sz="1500"/>
              <a:t>A sube la estructura base; B la trae con git pull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Paso</a:t>
            </a:r>
            <a:r>
              <a:rPr lang="es" sz="1500"/>
              <a:t> 4 </a:t>
            </a:r>
            <a:r>
              <a:rPr lang="es" sz="1500"/>
              <a:t>: </a:t>
            </a:r>
            <a:r>
              <a:rPr lang="es" sz="1500"/>
              <a:t> los dos editan la misma línea, sin sincronizar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Paso</a:t>
            </a:r>
            <a:r>
              <a:rPr lang="es" sz="1500"/>
              <a:t> 5</a:t>
            </a:r>
            <a:r>
              <a:rPr lang="es" sz="1500"/>
              <a:t>: </a:t>
            </a:r>
            <a:r>
              <a:rPr lang="es" sz="1500"/>
              <a:t>resolver el conflicto, en pareja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buSzPts val="1300"/>
              <a:buNone/>
            </a:pPr>
            <a:r>
              <a:rPr b="1" lang="es" sz="1500"/>
              <a:t>Regla: </a:t>
            </a:r>
            <a:r>
              <a:rPr lang="es" sz="1500"/>
              <a:t>git status después de cada comando, y leerlo.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729450" y="1500000"/>
            <a:ext cx="7021200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Ahora ustedes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" sz="1800"/>
              <a:t>Actividad en parejas · la guía está en Classroom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729450" y="5714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¿Qué les dijo Git cuando B hizo push?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729450" y="1560000"/>
            <a:ext cx="76887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 sz="1500"/>
              <a:t>! [rejected]  main -&gt; main (fetch first)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El commit de B estaba bien hecho, pero vivía únicamente en su repositorio local.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Mientras tanto, A había publicado otro commit: el remoto avanzó por un camino distinto.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Git no acepta un push que dejaría afuera commits que ya están en el remoto: no sobrescribe historia ajena.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300"/>
              <a:buNone/>
            </a:pPr>
            <a:r>
              <a:rPr b="1" lang="es" sz="1500"/>
              <a:t>Regla de equipo: </a:t>
            </a:r>
            <a:r>
              <a:rPr lang="es" sz="1500"/>
              <a:t>pull antes de empezar a trabajar, push cuando terminás. La mayoría de los conflictos evitables nacen de no hacer pull al arrancar.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663750" y="6262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El conflicto: cuando los cambios se contradicen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7294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500"/>
              <a:t>Cuándo aparece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Dos commits modifican la misma línea del mismo archivo.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Git no puede decidir cuál versión es la correcta y frena la fusión.</a:t>
            </a:r>
            <a:endParaRPr sz="1500"/>
          </a:p>
        </p:txBody>
      </p:sp>
      <p:sp>
        <p:nvSpPr>
          <p:cNvPr id="195" name="Google Shape;195;p34"/>
          <p:cNvSpPr txBox="1"/>
          <p:nvPr>
            <p:ph idx="2" type="body"/>
          </p:nvPr>
        </p:nvSpPr>
        <p:spPr>
          <a:xfrm>
            <a:off x="46981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500"/>
              <a:t>Cuándo NO aparece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Archivos distintos, o líneas distintas del mismo archivo.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Ahí Git fusiona solo y no hay que hacer nada.</a:t>
            </a:r>
            <a:endParaRPr sz="1500"/>
          </a:p>
        </p:txBody>
      </p:sp>
      <p:sp>
        <p:nvSpPr>
          <p:cNvPr id="196" name="Google Shape;196;p34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lang="es" sz="1500"/>
              <a:t>Que Git frene no es una falla: es negarse a decidir por ustedes algo que solo ustedes pueden decidir.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729450" y="5495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Resolver el conflicto es siempre manual</a:t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727650" y="1297175"/>
            <a:ext cx="7688700" cy="3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1500"/>
              <a:t>Editar, decidir qué queda, borrar los tres marcadores, y cerrar con </a:t>
            </a:r>
            <a:r>
              <a:rPr b="1" lang="es" sz="1500"/>
              <a:t>git add</a:t>
            </a:r>
            <a:r>
              <a:rPr lang="es" sz="1500"/>
              <a:t> + </a:t>
            </a:r>
            <a:r>
              <a:rPr b="1" lang="es" sz="1500"/>
              <a:t>git commit</a:t>
            </a:r>
            <a:r>
              <a:rPr lang="es" sz="1500"/>
              <a:t>. Ese último commit ( el de fusión)  es la prueba, en el historial, de que dos líneas de trabajo se unieron.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SzPts val="1100"/>
              <a:buNone/>
            </a:pPr>
            <a:r>
              <a:t/>
            </a:r>
            <a:endParaRPr sz="1500"/>
          </a:p>
        </p:txBody>
      </p:sp>
      <p:pic>
        <p:nvPicPr>
          <p:cNvPr id="203" name="Google Shape;2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675" y="2245725"/>
            <a:ext cx="6667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729450" y="5933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Lo que quedó en el historial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729450" y="1384800"/>
            <a:ext cx="8108100" cy="3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 sz="1500"/>
              <a:t>git log --oneline --graph --all</a:t>
            </a:r>
            <a:r>
              <a:rPr lang="es" sz="1500"/>
              <a:t> muestra la forma real del trabajo: dos personas que se separaron y volvieron a unirse.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SzPts val="1100"/>
              <a:buNone/>
            </a:pPr>
            <a:r>
              <a:t/>
            </a:r>
            <a:endParaRPr sz="1500"/>
          </a:p>
        </p:txBody>
      </p:sp>
      <p:pic>
        <p:nvPicPr>
          <p:cNvPr id="210" name="Google Shape;2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676" y="2106425"/>
            <a:ext cx="7079776" cy="29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727650" y="5824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Ramas: hacer esto a propósito</a:t>
            </a:r>
            <a:endParaRPr/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729450" y="1560000"/>
            <a:ext cx="76887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Hoy el desvío fue accidental. Una rama es exactamente eso, pero decidido.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main contiene el código estable, el que compila y funciona.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Para una funcionalidad nueva o un experimento se crea una rama y se commitea ahí, sin afectar a main.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Cuando está terminado y probado, se fusiona (merge) de vuelta en main.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En el proyecto integrador: </a:t>
            </a:r>
            <a:r>
              <a:rPr lang="es" sz="1300"/>
              <a:t>una rama por funcionalidad y main siempre compilando.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729450" y="6043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.gitignore: lo que no se sube</a:t>
            </a:r>
            <a:endParaRPr/>
          </a:p>
        </p:txBody>
      </p:sp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7294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500"/>
              <a:t>Qué queda afuera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Compilados: *.class, bin/, out/, target/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Configuración del IDE: .vscode/, .idea/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Credenciales y contraseñas.</a:t>
            </a:r>
            <a:endParaRPr sz="1500"/>
          </a:p>
        </p:txBody>
      </p:sp>
      <p:sp>
        <p:nvSpPr>
          <p:cNvPr id="223" name="Google Shape;223;p38"/>
          <p:cNvSpPr txBox="1"/>
          <p:nvPr>
            <p:ph idx="2" type="body"/>
          </p:nvPr>
        </p:nvSpPr>
        <p:spPr>
          <a:xfrm>
            <a:off x="46981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500"/>
              <a:t>Por qué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Se regeneran solos: no aportan historia.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Cambian todo el tiempo y ensucian cada commit.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Producen conflictos inútiles entre integrantes.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●"/>
            </a:pPr>
            <a:r>
              <a:rPr lang="es" sz="1500"/>
              <a:t>Una contraseña subida a un repo público es pública para siempre.</a:t>
            </a:r>
            <a:endParaRPr sz="1500"/>
          </a:p>
        </p:txBody>
      </p:sp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727650" y="4343500"/>
            <a:ext cx="7688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lang="es" sz="1500"/>
              <a:t>La plantilla de Java de GitHub cubre los compilados, pero no las carpetas del IDE: hay que completarla.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729450" y="5714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Git en esta materia</a:t>
            </a:r>
            <a:endParaRPr/>
          </a:p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>
            <a:off x="729450" y="1560000"/>
            <a:ext cx="76887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Un repositorio por grupo de proyecto integrador, desde la semana que viene.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Las entregas parciales se hacen sobre ese repositorio: idea de desarrollo, diagrama de clases, herencia y polimorfismo, prototipo, patrones.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El historial muestra el aporte de cada integrante: los commits son parte de la evidencia de trabajo.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En la defensa oral individual se pregunta sobre el propio código y sobre las decisiones que quedaron registradas.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300"/>
              <a:buNone/>
            </a:pPr>
            <a:r>
              <a:rPr b="1" lang="es" sz="1500"/>
              <a:t>Hoy en la clase práctica: </a:t>
            </a:r>
            <a:r>
              <a:rPr lang="es" sz="1500"/>
              <a:t>el mismo flujo con GitHub Desktop y VSCode, y armamos el repositorio del grupo.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729450" y="1400000"/>
            <a:ext cx="702120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3600"/>
              <a:buNone/>
            </a:pPr>
            <a:r>
              <a:rPr lang="es"/>
              <a:t>Si no está commiteado y pusheado, no existe.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