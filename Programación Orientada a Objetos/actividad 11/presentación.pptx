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901"/>
    <p:sldId id="257" r:id="rId902"/>
    <p:sldId id="258" r:id="rId903"/>
    <p:sldId id="259" r:id="rId904"/>
    <p:sldId id="260" r:id="rId905"/>
    <p:sldId id="261" r:id="rId906"/>
    <p:sldId id="262" r:id="rId907"/>
    <p:sldId id="263" r:id="rId908"/>
    <p:sldId id="264" r:id="rId909"/>
    <p:sldId id="265" r:id="rId910"/>
    <p:sldId id="266" r:id="rId911"/>
    <p:sldId id="267" r:id="rId912"/>
    <p:sldId id="268" r:id="rId913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Lato-bold.fntdata"/><Relationship Id="rId21" Type="http://schemas.openxmlformats.org/officeDocument/2006/relationships/font" Target="fonts/Lato-regular.fntdata"/><Relationship Id="rId24" Type="http://schemas.openxmlformats.org/officeDocument/2006/relationships/font" Target="fonts/Lato-boldItalic.fntdata"/><Relationship Id="rId23" Type="http://schemas.openxmlformats.org/officeDocument/2006/relationships/font" Target="fonts/Lato-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7" Type="http://schemas.openxmlformats.org/officeDocument/2006/relationships/font" Target="fonts/Raleway-regular.fntdata"/><Relationship Id="rId5" Type="http://schemas.openxmlformats.org/officeDocument/2006/relationships/slideMaster" Target="slideMasters/slideMaster2.xml"/><Relationship Id="rId19" Type="http://schemas.openxmlformats.org/officeDocument/2006/relationships/font" Target="fonts/Raleway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Raleway-bold.fntdata"/><Relationship Id="rId901" Type="http://schemas.openxmlformats.org/officeDocument/2006/relationships/slide" Target="slides/slide1.xml"/><Relationship Id="rId902" Type="http://schemas.openxmlformats.org/officeDocument/2006/relationships/slide" Target="slides/slide2.xml"/><Relationship Id="rId903" Type="http://schemas.openxmlformats.org/officeDocument/2006/relationships/slide" Target="slides/slide3.xml"/><Relationship Id="rId904" Type="http://schemas.openxmlformats.org/officeDocument/2006/relationships/slide" Target="slides/slide4.xml"/><Relationship Id="rId905" Type="http://schemas.openxmlformats.org/officeDocument/2006/relationships/slide" Target="slides/slide5.xml"/><Relationship Id="rId906" Type="http://schemas.openxmlformats.org/officeDocument/2006/relationships/slide" Target="slides/slide6.xml"/><Relationship Id="rId907" Type="http://schemas.openxmlformats.org/officeDocument/2006/relationships/slide" Target="slides/slide7.xml"/><Relationship Id="rId908" Type="http://schemas.openxmlformats.org/officeDocument/2006/relationships/slide" Target="slides/slide8.xml"/><Relationship Id="rId909" Type="http://schemas.openxmlformats.org/officeDocument/2006/relationships/slide" Target="slides/slide9.xml"/><Relationship Id="rId910" Type="http://schemas.openxmlformats.org/officeDocument/2006/relationships/slide" Target="slides/slide10.xml"/><Relationship Id="rId911" Type="http://schemas.openxmlformats.org/officeDocument/2006/relationships/slide" Target="slides/slide11.xml"/><Relationship Id="rId912" Type="http://schemas.openxmlformats.org/officeDocument/2006/relationships/slide" Target="slides/slide12.xml"/><Relationship Id="rId913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6" name="Google Shape;56;p1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1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14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0" name="Google Shape;60;p14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1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1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1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15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0" name="Google Shape;70;p16"/>
          <p:cNvGrpSpPr/>
          <p:nvPr/>
        </p:nvGrpSpPr>
        <p:grpSpPr>
          <a:xfrm>
            <a:off x="830392" y="800000"/>
            <a:ext cx="745763" cy="45826"/>
            <a:chOff x="4580561" y="2589004"/>
            <a:chExt cx="1064464" cy="25200"/>
          </a:xfrm>
        </p:grpSpPr>
        <p:sp>
          <p:nvSpPr>
            <p:cNvPr id="71" name="Google Shape;71;p1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" name="Google Shape;73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8" name="Google Shape;78;p17"/>
          <p:cNvGrpSpPr/>
          <p:nvPr/>
        </p:nvGrpSpPr>
        <p:grpSpPr>
          <a:xfrm>
            <a:off x="830392" y="800000"/>
            <a:ext cx="745763" cy="45826"/>
            <a:chOff x="4580561" y="2589004"/>
            <a:chExt cx="1064464" cy="25200"/>
          </a:xfrm>
        </p:grpSpPr>
        <p:sp>
          <p:nvSpPr>
            <p:cNvPr id="79" name="Google Shape;79;p1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1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1" name="Google Shape;81;p1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7" name="Google Shape;87;p1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8" name="Google Shape;88;p1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" name="Google Shape;90;p18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95" name="Google Shape;95;p1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9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20"/>
          <p:cNvGrpSpPr/>
          <p:nvPr/>
        </p:nvGrpSpPr>
        <p:grpSpPr>
          <a:xfrm>
            <a:off x="830392" y="1250000"/>
            <a:ext cx="745763" cy="45826"/>
            <a:chOff x="4580561" y="2589004"/>
            <a:chExt cx="1064464" cy="25200"/>
          </a:xfrm>
        </p:grpSpPr>
        <p:sp>
          <p:nvSpPr>
            <p:cNvPr id="102" name="Google Shape;102;p2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2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4" name="Google Shape;104;p20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" name="Google Shape;108;p2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09" name="Google Shape;109;p2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2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1" name="Google Shape;111;p21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13" name="Google Shape;113;p21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17" name="Google Shape;117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Google Shape;119;p23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120" name="Google Shape;120;p2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2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23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3" Type="http://schemas.openxmlformats.org/officeDocument/2006/relationships/image" Target="../media/image3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g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g2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g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g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g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g6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g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Unidad 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Layout managers: ubicar componentes sin coordenadas</a:t>
            </a:r>
            <a:endParaRPr/>
          </a:p>
        </p:txBody>
      </p:sp>
      <p:sp>
        <p:nvSpPr>
          <p:cNvPr id="132" name="Google Shape;132;p25"/>
          <p:cNvSpPr txBox="1"/>
          <p:nvPr>
            <p:ph idx="1" type="subTitle"/>
          </p:nvPr>
        </p:nvSpPr>
        <p:spPr>
          <a:xfrm>
            <a:off x="618600" y="3981338"/>
            <a:ext cx="7688100" cy="10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Prof: Lic. Rosales Pablo (prosales@unpata.edu.ar)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Materia: Programación Orientada a Objetos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Año: 2026</a:t>
            </a:r>
            <a:endParaRPr/>
          </a:p>
        </p:txBody>
      </p:sp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0300" y="3692238"/>
            <a:ext cx="1136699" cy="113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 txBox="1"/>
          <p:nvPr/>
        </p:nvSpPr>
        <p:spPr>
          <a:xfrm>
            <a:off x="0" y="214625"/>
            <a:ext cx="9144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Departamento de Informática, Facultad de Ingeniería, Universidad Nacional de la Patagonia San Juan Bosco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/>
          <p:nvPr>
            <p:ph type="title"/>
          </p:nvPr>
        </p:nvSpPr>
        <p:spPr>
          <a:xfrm>
            <a:off x="729450" y="1500000"/>
            <a:ext cx="7021200" cy="16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s">
                <a:solidFill>
                  <a:srgbClr val="000000"/>
                </a:solidFill>
              </a:rPr>
              <a:t>La vista define la disposición relativa. Las coordenadas en píxeles las calcula un objeto aparte.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s" sz="2000">
                <a:solidFill>
                  <a:srgbClr val="000000"/>
                </a:solidFill>
              </a:rPr>
              <a:t>Ese objeto es el layout manager. El contenedor depende de la interfaz, como </a:t>
            </a:r>
            <a:r>
              <a:rPr lang="es" b="1" sz="2000">
                <a:solidFill>
                  <a:srgbClr val="000000"/>
                </a:solidFill>
                <a:latin typeface="Courier New"/>
                <a:cs typeface="Courier New"/>
              </a:rPr>
              <a:t>Caja</a:t>
            </a:r>
            <a:r>
              <a:rPr lang="es" sz="2000">
                <a:solidFill>
                  <a:srgbClr val="000000"/>
                </a:solidFill>
              </a:rPr>
              <a:t> de </a:t>
            </a:r>
            <a:r>
              <a:rPr lang="es" b="1" sz="2000">
                <a:solidFill>
                  <a:srgbClr val="000000"/>
                </a:solidFill>
                <a:latin typeface="Courier New"/>
                <a:cs typeface="Courier New"/>
              </a:rPr>
              <a:t>Notificador</a:t>
            </a:r>
            <a:r>
              <a:rPr lang="es" sz="2000">
                <a:solidFill>
                  <a:srgbClr val="000000"/>
                </a:solidFill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 txBox="1"/>
          <p:nvPr>
            <p:ph type="title"/>
          </p:nvPr>
        </p:nvSpPr>
        <p:spPr>
          <a:xfrm>
            <a:off x="729450" y="900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>
                <a:solidFill>
                  <a:srgbClr val="000000"/>
                </a:solidFill>
              </a:rPr>
              <a:t>Sin layout manager</a:t>
            </a:r>
            <a:endParaRPr/>
          </a:p>
        </p:txBody>
      </p:sp>
      <p:sp>
        <p:nvSpPr>
          <p:cNvPr id="31" name="Shape 31"/>
          <p:cNvSpPr txBox="1"/>
          <p:nvPr>
            <p:ph idx="1" type="body"/>
          </p:nvPr>
        </p:nvSpPr>
        <p:spPr>
          <a:xfrm>
            <a:off x="729450" y="1560000"/>
            <a:ext cx="4900000" cy="2560000"/>
          </a:xfrm>
          <a:prstGeom prst="rect">
            <a:avLst/>
          </a:prstGeom>
          <a:solidFill>
            <a:srgbClr val="F8F8F8"/>
          </a:solidFill>
          <a:ln w="9525">
            <a:solidFill>
              <a:srgbClr val="D3D7CF"/>
            </a:solidFill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ventana.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setLayout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null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etiquetaMonto.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setBounds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20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20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120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25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campoMonto.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setBounds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150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20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170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25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botonEfectivo.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setBounds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20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65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140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30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botonDebito.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setBounds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170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65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140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30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botonQR.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setBounds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320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65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140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30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etiquetaTotal.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setBounds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20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115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300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25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 i="1">
                <a:solidFill>
                  <a:srgbClr val="7A4A00"/>
                </a:solidFill>
                <a:latin typeface="Courier New"/>
                <a:cs typeface="Courier New"/>
              </a:rPr>
              <a:t>// Coordenadas fijas: al agrandar la ventana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 i="1">
                <a:solidFill>
                  <a:srgbClr val="7A4A00"/>
                </a:solidFill>
                <a:latin typeface="Courier New"/>
                <a:cs typeface="Courier New"/>
              </a:rPr>
              <a:t>// nada se reubica, y un boton nuevo obliga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 i="1">
                <a:solidFill>
                  <a:srgbClr val="7A4A00"/>
                </a:solidFill>
                <a:latin typeface="Courier New"/>
                <a:cs typeface="Courier New"/>
              </a:rPr>
              <a:t>// a recalcular las de los demas.</a:t>
            </a:r>
            <a:endParaRPr/>
          </a:p>
        </p:txBody>
      </p:sp>
      <p:pic>
        <p:nvPicPr>
          <p:cNvPr id="32" name="Imagen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450" y="1560000"/>
            <a:ext cx="2638700" cy="989512"/>
          </a:xfrm>
          <a:prstGeom prst="rect">
            <a:avLst/>
          </a:prstGeom>
        </p:spPr>
      </p:pic>
      <p:sp>
        <p:nvSpPr>
          <p:cNvPr id="33" name="Shape 33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SzPts val="1600"/>
              <a:buNone/>
            </a:pPr>
            <a:r>
              <a:rPr lang="es" b="1" sz="1600">
                <a:solidFill>
                  <a:srgbClr val="000000"/>
                </a:solidFill>
              </a:rPr>
              <a:t>Un cambio visual implica recalcular coordenadas. Al agrandar, nada se reubica.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/>
          <p:nvPr>
            <p:ph type="title"/>
          </p:nvPr>
        </p:nvSpPr>
        <p:spPr>
          <a:xfrm>
            <a:off x="729450" y="900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>
                <a:solidFill>
                  <a:srgbClr val="000000"/>
                </a:solidFill>
              </a:rPr>
              <a:t>Layout manager</a:t>
            </a:r>
            <a:endParaRPr/>
          </a:p>
        </p:txBody>
      </p:sp>
      <p:sp>
        <p:nvSpPr>
          <p:cNvPr id="41" name="Shape 41"/>
          <p:cNvSpPr txBox="1"/>
          <p:nvPr>
            <p:ph idx="1" type="body"/>
          </p:nvPr>
        </p:nvSpPr>
        <p:spPr>
          <a:xfrm>
            <a:off x="729450" y="1560000"/>
            <a:ext cx="7688700" cy="25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600"/>
              </a:spcAft>
              <a:buSzPts val="1600"/>
            </a:pPr>
            <a:r>
              <a:rPr lang="es" sz="1600">
                <a:solidFill>
                  <a:srgbClr val="000000"/>
                </a:solidFill>
              </a:rPr>
              <a:t>Todo contenedor (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JFrame</a:t>
            </a:r>
            <a:r>
              <a:rPr lang="es" sz="1600">
                <a:solidFill>
                  <a:srgbClr val="000000"/>
                </a:solidFill>
              </a:rPr>
              <a:t>,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JPanel</a:t>
            </a:r>
            <a:r>
              <a:rPr lang="es" sz="1600">
                <a:solidFill>
                  <a:srgbClr val="000000"/>
                </a:solidFill>
              </a:rPr>
              <a:t>) tiene uno: un objeto que implementa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LayoutManager</a:t>
            </a:r>
            <a:r>
              <a:rPr lang="es" sz="1600">
                <a:solidFill>
                  <a:srgbClr val="000000"/>
                </a:solidFill>
              </a:rPr>
              <a:t> y calcula posición y tamaño de cada hijo.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600"/>
              </a:spcAft>
              <a:buSzPts val="1600"/>
            </a:pPr>
            <a:r>
              <a:rPr lang="es" sz="1600">
                <a:solidFill>
                  <a:srgbClr val="000000"/>
                </a:solidFill>
              </a:rPr>
              <a:t>El contenedor lo invoca al mostrarse, al cambiar de tamaño y al agregar un componente.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setLayout()</a:t>
            </a:r>
            <a:r>
              <a:rPr lang="es" sz="1600">
                <a:solidFill>
                  <a:srgbClr val="000000"/>
                </a:solidFill>
              </a:rPr>
              <a:t> elige cuál.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600"/>
              </a:spcAft>
              <a:buSzPts val="1600"/>
            </a:pPr>
            <a:r>
              <a:rPr lang="es" sz="1600">
                <a:solidFill>
                  <a:srgbClr val="000000"/>
                </a:solidFill>
              </a:rPr>
              <a:t>Usa el tamaño preferido de cada componente,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getPreferredSize()</a:t>
            </a:r>
            <a:r>
              <a:rPr lang="es" sz="1600">
                <a:solidFill>
                  <a:srgbClr val="000000"/>
                </a:solidFill>
              </a:rPr>
              <a:t>: en un botón, el texto; en un campo, sus columnas,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new JTextField(12)</a:t>
            </a:r>
            <a:r>
              <a:rPr lang="es" sz="1600">
                <a:solidFill>
                  <a:srgbClr val="000000"/>
                </a:solidFill>
              </a:rPr>
              <a:t>.</a:t>
            </a:r>
            <a:endParaRPr/>
          </a:p>
        </p:txBody>
      </p:sp>
      <p:sp>
        <p:nvSpPr>
          <p:cNvPr id="42" name="Shape 42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SzPts val="1600"/>
              <a:buNone/>
            </a:pPr>
            <a:r>
              <a:rPr lang="es" b="1" sz="1600">
                <a:solidFill>
                  <a:srgbClr val="000000"/>
                </a:solidFill>
              </a:rPr>
              <a:t>El layout manager calcula las coordenadas cada vez que el contenedor cambia. La vista no las escribe.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/>
          <p:nvPr>
            <p:ph type="title"/>
          </p:nvPr>
        </p:nvSpPr>
        <p:spPr>
          <a:xfrm>
            <a:off x="729450" y="900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>
                <a:solidFill>
                  <a:srgbClr val="000000"/>
                </a:solidFill>
              </a:rPr>
              <a:t>FlowLayout</a:t>
            </a:r>
            <a:endParaRPr/>
          </a:p>
        </p:txBody>
      </p:sp>
      <p:sp>
        <p:nvSpPr>
          <p:cNvPr id="51" name="Shape 51"/>
          <p:cNvSpPr txBox="1"/>
          <p:nvPr>
            <p:ph idx="1" type="body"/>
          </p:nvPr>
        </p:nvSpPr>
        <p:spPr>
          <a:xfrm>
            <a:off x="729450" y="1560000"/>
            <a:ext cx="4900000" cy="2560000"/>
          </a:xfrm>
          <a:prstGeom prst="rect">
            <a:avLst/>
          </a:prstGeom>
          <a:solidFill>
            <a:srgbClr val="F8F8F8"/>
          </a:solidFill>
          <a:ln w="9525">
            <a:solidFill>
              <a:srgbClr val="D3D7CF"/>
            </a:solidFill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JPanel panel </a:t>
            </a:r>
            <a:r>
              <a:rPr lang="es" sz="1200" b="1">
                <a:solidFill>
                  <a:srgbClr val="CE5C00"/>
                </a:solidFill>
                <a:latin typeface="Courier New"/>
                <a:cs typeface="Courier New"/>
              </a:rPr>
              <a:t>=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new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JPanel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();   </a:t>
            </a:r>
            <a:r>
              <a:rPr lang="es" sz="1200" b="1" i="1">
                <a:solidFill>
                  <a:srgbClr val="7A4A00"/>
                </a:solidFill>
                <a:latin typeface="Courier New"/>
                <a:cs typeface="Courier New"/>
              </a:rPr>
              <a:t>// trae FlowLayout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panel.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new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JButton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200" b="1">
                <a:solidFill>
                  <a:srgbClr val="2E7D00"/>
                </a:solidFill>
                <a:latin typeface="Courier New"/>
                <a:cs typeface="Courier New"/>
              </a:rPr>
              <a:t>"Efectivo"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panel.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new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JButton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200" b="1">
                <a:solidFill>
                  <a:srgbClr val="2E7D00"/>
                </a:solidFill>
                <a:latin typeface="Courier New"/>
                <a:cs typeface="Courier New"/>
              </a:rPr>
              <a:t>"Debito"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panel.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new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JButton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200" b="1">
                <a:solidFill>
                  <a:srgbClr val="2E7D00"/>
                </a:solidFill>
                <a:latin typeface="Courier New"/>
                <a:cs typeface="Courier New"/>
              </a:rPr>
              <a:t>"QR"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panel.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new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JButton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200" b="1">
                <a:solidFill>
                  <a:srgbClr val="2E7D00"/>
                </a:solidFill>
                <a:latin typeface="Courier New"/>
                <a:cs typeface="Courier New"/>
              </a:rPr>
              <a:t>"Transferencia"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panel.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new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JButton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200" b="1">
                <a:solidFill>
                  <a:srgbClr val="2E7D00"/>
                </a:solidFill>
                <a:latin typeface="Courier New"/>
                <a:cs typeface="Courier New"/>
              </a:rPr>
              <a:t>"Cuenta corriente"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 i="1">
                <a:solidFill>
                  <a:srgbClr val="7A4A00"/>
                </a:solidFill>
                <a:latin typeface="Courier New"/>
                <a:cs typeface="Courier New"/>
              </a:rPr>
              <a:t>// Alineacion y separacion, en pixeles: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 i="1">
                <a:solidFill>
                  <a:srgbClr val="7A4A00"/>
                </a:solidFill>
                <a:latin typeface="Courier New"/>
                <a:cs typeface="Courier New"/>
              </a:rPr>
              <a:t>// new FlowLayout(FlowLayout.LEFT, 8, 8)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 i="1">
                <a:solidFill>
                  <a:srgbClr val="7A4A00"/>
                </a:solidFill>
                <a:latin typeface="Courier New"/>
                <a:cs typeface="Courier New"/>
              </a:rPr>
              <a:t>// Dos anchos de la misma ventana.</a:t>
            </a:r>
            <a:endParaRPr/>
          </a:p>
        </p:txBody>
      </p:sp>
      <p:pic>
        <p:nvPicPr>
          <p:cNvPr id="52" name="Imagen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450" y="1560000"/>
            <a:ext cx="2638700" cy="1183159"/>
          </a:xfrm>
          <a:prstGeom prst="rect">
            <a:avLst/>
          </a:prstGeom>
        </p:spPr>
      </p:pic>
      <p:sp>
        <p:nvSpPr>
          <p:cNvPr id="53" name="Shape 53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SzPts val="1600"/>
              <a:buNone/>
            </a:pP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FlowLayout</a:t>
            </a:r>
            <a:r>
              <a:rPr lang="es" b="1" sz="1600">
                <a:solidFill>
                  <a:srgbClr val="000000"/>
                </a:solidFill>
              </a:rPr>
              <a:t>: en fila, en el orden del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add()</a:t>
            </a:r>
            <a:r>
              <a:rPr lang="es" b="1" sz="1600">
                <a:solidFill>
                  <a:srgbClr val="000000"/>
                </a:solidFill>
              </a:rPr>
              <a:t>, cada uno con su tamaño preferido. Lo que no entra pasa a la fila siguiente.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/>
          <p:nvPr>
            <p:ph type="title"/>
          </p:nvPr>
        </p:nvSpPr>
        <p:spPr>
          <a:xfrm>
            <a:off x="729450" y="900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>
                <a:solidFill>
                  <a:srgbClr val="000000"/>
                </a:solidFill>
              </a:rPr>
              <a:t>BorderLayout</a:t>
            </a:r>
            <a:endParaRPr/>
          </a:p>
        </p:txBody>
      </p:sp>
      <p:sp>
        <p:nvSpPr>
          <p:cNvPr id="61" name="Shape 61"/>
          <p:cNvSpPr txBox="1"/>
          <p:nvPr>
            <p:ph idx="1" type="body"/>
          </p:nvPr>
        </p:nvSpPr>
        <p:spPr>
          <a:xfrm>
            <a:off x="729450" y="1560000"/>
            <a:ext cx="4900000" cy="2560000"/>
          </a:xfrm>
          <a:prstGeom prst="rect">
            <a:avLst/>
          </a:prstGeom>
          <a:solidFill>
            <a:srgbClr val="F8F8F8"/>
          </a:solidFill>
          <a:ln w="9525">
            <a:solidFill>
              <a:srgbClr val="D3D7CF"/>
            </a:solidFill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 i="1">
                <a:solidFill>
                  <a:srgbClr val="7A4A00"/>
                </a:solidFill>
                <a:latin typeface="Courier New"/>
                <a:cs typeface="Courier New"/>
              </a:rPr>
              <a:t>// El que trae un JFrame. El segundo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 i="1">
                <a:solidFill>
                  <a:srgbClr val="7A4A00"/>
                </a:solidFill>
                <a:latin typeface="Courier New"/>
                <a:cs typeface="Courier New"/>
              </a:rPr>
              <a:t>// parametro de add() es la region.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ventana.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setLayout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new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BorderLayout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8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200" b="1">
                <a:solidFill>
                  <a:srgbClr val="0000CF"/>
                </a:solidFill>
                <a:latin typeface="Courier New"/>
                <a:cs typeface="Courier New"/>
              </a:rPr>
              <a:t>8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ventana.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(botonNorte, BorderLayout.NORTH);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ventana.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(botonSur, BorderLayout.SOUTH);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ventana.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(botonOeste, BorderLayout.WEST);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ventana.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(botonEste, BorderLayout.EAST);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ventana.</a:t>
            </a:r>
            <a:r>
              <a:rPr lang="es" sz="12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200" b="1">
                <a:solidFill>
                  <a:srgbClr val="000000"/>
                </a:solidFill>
                <a:latin typeface="Courier New"/>
                <a:cs typeface="Courier New"/>
              </a:rPr>
              <a:t>(botonCentro, BorderLayout.CENTER);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 i="1">
                <a:solidFill>
                  <a:srgbClr val="7A4A00"/>
                </a:solidFill>
                <a:latin typeface="Courier New"/>
                <a:cs typeface="Courier New"/>
              </a:rPr>
              <a:t>// Norte y sur: todo el ancho, su altura.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 i="1">
                <a:solidFill>
                  <a:srgbClr val="7A4A00"/>
                </a:solidFill>
                <a:latin typeface="Courier New"/>
                <a:cs typeface="Courier New"/>
              </a:rPr>
              <a:t>// Este y oeste: su ancho, la altura restante.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s" sz="1200" b="1" i="1">
                <a:solidFill>
                  <a:srgbClr val="7A4A00"/>
                </a:solidFill>
                <a:latin typeface="Courier New"/>
                <a:cs typeface="Courier New"/>
              </a:rPr>
              <a:t>// Centro: todo el espacio restante.</a:t>
            </a:r>
            <a:endParaRPr/>
          </a:p>
        </p:txBody>
      </p:sp>
      <p:pic>
        <p:nvPicPr>
          <p:cNvPr id="62" name="Imagen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450" y="1560000"/>
            <a:ext cx="2638700" cy="1777981"/>
          </a:xfrm>
          <a:prstGeom prst="rect">
            <a:avLst/>
          </a:prstGeom>
        </p:spPr>
      </p:pic>
      <p:sp>
        <p:nvSpPr>
          <p:cNvPr id="63" name="Shape 63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SzPts val="1600"/>
              <a:buNone/>
            </a:pP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BorderLayout</a:t>
            </a:r>
            <a:r>
              <a:rPr lang="es" b="1" sz="1600">
                <a:solidFill>
                  <a:srgbClr val="000000"/>
                </a:solidFill>
              </a:rPr>
              <a:t>: cinco regiones, un componente por región. Un segundo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add()</a:t>
            </a:r>
            <a:r>
              <a:rPr lang="es" b="1" sz="1600">
                <a:solidFill>
                  <a:srgbClr val="000000"/>
                </a:solidFill>
              </a:rPr>
              <a:t> en la misma región reemplaza al primero.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 txBox="1"/>
          <p:nvPr>
            <p:ph type="title"/>
          </p:nvPr>
        </p:nvSpPr>
        <p:spPr>
          <a:xfrm>
            <a:off x="729450" y="900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>
                <a:solidFill>
                  <a:srgbClr val="000000"/>
                </a:solidFill>
              </a:rPr>
              <a:t>GridLayout</a:t>
            </a:r>
            <a:endParaRPr/>
          </a:p>
        </p:txBody>
      </p:sp>
      <p:sp>
        <p:nvSpPr>
          <p:cNvPr id="71" name="Shape 71"/>
          <p:cNvSpPr txBox="1"/>
          <p:nvPr>
            <p:ph idx="1" type="body"/>
          </p:nvPr>
        </p:nvSpPr>
        <p:spPr>
          <a:xfrm>
            <a:off x="729450" y="1560000"/>
            <a:ext cx="4900000" cy="2560000"/>
          </a:xfrm>
          <a:prstGeom prst="rect">
            <a:avLst/>
          </a:prstGeom>
          <a:solidFill>
            <a:srgbClr val="F8F8F8"/>
          </a:solidFill>
          <a:ln w="9525">
            <a:solidFill>
              <a:srgbClr val="D3D7CF"/>
            </a:solidFill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 i="1">
                <a:solidFill>
                  <a:srgbClr val="7A4A00"/>
                </a:solidFill>
                <a:latin typeface="Courier New"/>
                <a:cs typeface="Courier New"/>
              </a:rPr>
              <a:t>// filas, columnas, separacion horizontal, vertical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JPanel panel </a:t>
            </a:r>
            <a:r>
              <a:rPr lang="es" sz="1100" b="1">
                <a:solidFill>
                  <a:srgbClr val="CE5C00"/>
                </a:solidFill>
                <a:latin typeface="Courier New"/>
                <a:cs typeface="Courier New"/>
              </a:rPr>
              <a:t>=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new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JPanel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new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GridLayout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100" b="1">
                <a:solidFill>
                  <a:srgbClr val="0000CF"/>
                </a:solidFill>
                <a:latin typeface="Courier New"/>
                <a:cs typeface="Courier New"/>
              </a:rPr>
              <a:t>2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100" b="1">
                <a:solidFill>
                  <a:srgbClr val="0000CF"/>
                </a:solidFill>
                <a:latin typeface="Courier New"/>
                <a:cs typeface="Courier New"/>
              </a:rPr>
              <a:t>3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100" b="1">
                <a:solidFill>
                  <a:srgbClr val="0000CF"/>
                </a:solidFill>
                <a:latin typeface="Courier New"/>
                <a:cs typeface="Courier New"/>
              </a:rPr>
              <a:t>8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100" b="1">
                <a:solidFill>
                  <a:srgbClr val="0000CF"/>
                </a:solidFill>
                <a:latin typeface="Courier New"/>
                <a:cs typeface="Courier New"/>
              </a:rPr>
              <a:t>8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panel.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new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JButton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100" b="1">
                <a:solidFill>
                  <a:srgbClr val="2E7D00"/>
                </a:solidFill>
                <a:latin typeface="Courier New"/>
                <a:cs typeface="Courier New"/>
              </a:rPr>
              <a:t>"Efectivo"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panel.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new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JButton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100" b="1">
                <a:solidFill>
                  <a:srgbClr val="2E7D00"/>
                </a:solidFill>
                <a:latin typeface="Courier New"/>
                <a:cs typeface="Courier New"/>
              </a:rPr>
              <a:t>"Debito"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panel.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new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JButton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100" b="1">
                <a:solidFill>
                  <a:srgbClr val="2E7D00"/>
                </a:solidFill>
                <a:latin typeface="Courier New"/>
                <a:cs typeface="Courier New"/>
              </a:rPr>
              <a:t>"QR"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panel.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new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JButton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100" b="1">
                <a:solidFill>
                  <a:srgbClr val="2E7D00"/>
                </a:solidFill>
                <a:latin typeface="Courier New"/>
                <a:cs typeface="Courier New"/>
              </a:rPr>
              <a:t>"Transferencia"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panel.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new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JButton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100" b="1">
                <a:solidFill>
                  <a:srgbClr val="2E7D00"/>
                </a:solidFill>
                <a:latin typeface="Courier New"/>
                <a:cs typeface="Courier New"/>
              </a:rPr>
              <a:t>"Cuenta corriente"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panel.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new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JButton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100" b="1">
                <a:solidFill>
                  <a:srgbClr val="2E7D00"/>
                </a:solidFill>
                <a:latin typeface="Courier New"/>
                <a:cs typeface="Courier New"/>
              </a:rPr>
              <a:t>"Anular"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 i="1">
                <a:solidFill>
                  <a:srgbClr val="7A4A00"/>
                </a:solidFill>
                <a:latin typeface="Courier New"/>
                <a:cs typeface="Courier New"/>
              </a:rPr>
              <a:t>// Un 0 es "las que hagan falta":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 i="1">
                <a:solidFill>
                  <a:srgbClr val="7A4A00"/>
                </a:solidFill>
                <a:latin typeface="Courier New"/>
                <a:cs typeface="Courier New"/>
              </a:rPr>
              <a:t>// new GridLayout(1, 0) es una fila.</a:t>
            </a:r>
            <a:endParaRPr/>
          </a:p>
        </p:txBody>
      </p:sp>
      <p:pic>
        <p:nvPicPr>
          <p:cNvPr id="72" name="Imagen 7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450" y="1560000"/>
            <a:ext cx="2638700" cy="1337341"/>
          </a:xfrm>
          <a:prstGeom prst="rect">
            <a:avLst/>
          </a:prstGeom>
        </p:spPr>
      </p:pic>
      <p:sp>
        <p:nvSpPr>
          <p:cNvPr id="73" name="Shape 73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SzPts val="1600"/>
              <a:buNone/>
            </a:pP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GridLayout</a:t>
            </a:r>
            <a:r>
              <a:rPr lang="es" b="1" sz="1600">
                <a:solidFill>
                  <a:srgbClr val="000000"/>
                </a:solidFill>
              </a:rPr>
              <a:t>: celdas iguales, una por componente, en el orden del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add()</a:t>
            </a:r>
            <a:r>
              <a:rPr lang="es" b="1" sz="1600">
                <a:solidFill>
                  <a:srgbClr val="000000"/>
                </a:solidFill>
              </a:rPr>
              <a:t>. Las celdas ocupan todo el panel.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 txBox="1"/>
          <p:nvPr>
            <p:ph type="title"/>
          </p:nvPr>
        </p:nvSpPr>
        <p:spPr>
          <a:xfrm>
            <a:off x="729450" y="900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>
                <a:solidFill>
                  <a:srgbClr val="000000"/>
                </a:solidFill>
              </a:rPr>
              <a:t>Paneles anidados</a:t>
            </a:r>
            <a:endParaRPr/>
          </a:p>
        </p:txBody>
      </p:sp>
      <p:sp>
        <p:nvSpPr>
          <p:cNvPr id="81" name="Shape 81"/>
          <p:cNvSpPr txBox="1"/>
          <p:nvPr>
            <p:ph idx="1" type="body"/>
          </p:nvPr>
        </p:nvSpPr>
        <p:spPr>
          <a:xfrm>
            <a:off x="729450" y="1560000"/>
            <a:ext cx="4900000" cy="2560000"/>
          </a:xfrm>
          <a:prstGeom prst="rect">
            <a:avLst/>
          </a:prstGeom>
          <a:solidFill>
            <a:srgbClr val="F8F8F8"/>
          </a:solidFill>
          <a:ln w="9525">
            <a:solidFill>
              <a:srgbClr val="D3D7CF"/>
            </a:solidFill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 i="1">
                <a:solidFill>
                  <a:srgbClr val="7A4A00"/>
                </a:solidFill>
                <a:latin typeface="Courier New"/>
                <a:cs typeface="Courier New"/>
              </a:rPr>
              <a:t>// Un JPanel es un componente (va en una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 i="1">
                <a:solidFill>
                  <a:srgbClr val="7A4A00"/>
                </a:solidFill>
                <a:latin typeface="Courier New"/>
                <a:cs typeface="Courier New"/>
              </a:rPr>
              <a:t>// region) y un contenedor (tiene su layout).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JPanel panelMonto </a:t>
            </a:r>
            <a:r>
              <a:rPr lang="es" sz="1100" b="1">
                <a:solidFill>
                  <a:srgbClr val="CE5C00"/>
                </a:solidFill>
                <a:latin typeface="Courier New"/>
                <a:cs typeface="Courier New"/>
              </a:rPr>
              <a:t>=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new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JPanel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new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FlowLayout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());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panelMonto.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(etiquetaMonto);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panelMonto.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(campoMonto);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JPanel panelBotones </a:t>
            </a:r>
            <a:r>
              <a:rPr lang="es" sz="1100" b="1">
                <a:solidFill>
                  <a:srgbClr val="CE5C00"/>
                </a:solidFill>
                <a:latin typeface="Courier New"/>
                <a:cs typeface="Courier New"/>
              </a:rPr>
              <a:t>=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new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JPanel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new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GridLayout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100" b="1">
                <a:solidFill>
                  <a:srgbClr val="0000CF"/>
                </a:solidFill>
                <a:latin typeface="Courier New"/>
                <a:cs typeface="Courier New"/>
              </a:rPr>
              <a:t>1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s" sz="1100" b="1">
                <a:solidFill>
                  <a:srgbClr val="0000CF"/>
                </a:solidFill>
                <a:latin typeface="Courier New"/>
                <a:cs typeface="Courier New"/>
              </a:rPr>
              <a:t>0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panelBotones.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(botonEfectivo);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panelBotones.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(botonDebito);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panelBotones.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(botonQR);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ventana.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(panelMonto, BorderLayout.NORTH);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ventana.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(panelBotones, BorderLayout.CENTER);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ventana.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add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(etiquetaTotal, BorderLayout.SOUTH);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ventana.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pack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();   </a:t>
            </a:r>
            <a:r>
              <a:rPr lang="es" sz="1100" b="1" i="1">
                <a:solidFill>
                  <a:srgbClr val="7A4A00"/>
                </a:solidFill>
                <a:latin typeface="Courier New"/>
                <a:cs typeface="Courier New"/>
              </a:rPr>
              <a:t>// en vez de setSize()</a:t>
            </a:r>
            <a:endParaRPr/>
          </a:p>
        </p:txBody>
      </p:sp>
      <p:pic>
        <p:nvPicPr>
          <p:cNvPr id="82" name="Imagen 8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450" y="1560000"/>
            <a:ext cx="2638700" cy="1210586"/>
          </a:xfrm>
          <a:prstGeom prst="rect">
            <a:avLst/>
          </a:prstGeom>
        </p:spPr>
      </p:pic>
      <p:sp>
        <p:nvSpPr>
          <p:cNvPr id="83" name="Shape 83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SzPts val="1600"/>
              <a:buNone/>
            </a:pPr>
            <a:r>
              <a:rPr lang="es" b="1" sz="1600">
                <a:solidFill>
                  <a:srgbClr val="000000"/>
                </a:solidFill>
              </a:rPr>
              <a:t>Una región, un panel. Adentro del panel, su propio layout.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pack()</a:t>
            </a:r>
            <a:r>
              <a:rPr lang="es" b="1" sz="1600">
                <a:solidFill>
                  <a:srgbClr val="000000"/>
                </a:solidFill>
              </a:rPr>
              <a:t> dimensiona la ventana según sus componentes.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90"/>
          <p:cNvSpPr txBox="1"/>
          <p:nvPr>
            <p:ph type="title"/>
          </p:nvPr>
        </p:nvSpPr>
        <p:spPr>
          <a:xfrm>
            <a:off x="729450" y="900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>
                <a:solidFill>
                  <a:srgbClr val="000000"/>
                </a:solidFill>
              </a:rPr>
              <a:t>Quién contiene a quién</a:t>
            </a:r>
            <a:endParaRPr/>
          </a:p>
        </p:txBody>
      </p:sp>
      <p:pic>
        <p:nvPicPr>
          <p:cNvPr id="91" name="Imagen 9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800" y="1560000"/>
            <a:ext cx="6400000" cy="2560000"/>
          </a:xfrm>
          <a:prstGeom prst="rect">
            <a:avLst/>
          </a:prstGeom>
        </p:spPr>
      </p:pic>
      <p:sp>
        <p:nvSpPr>
          <p:cNvPr id="92" name="Shape 92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SzPts val="1600"/>
              <a:buNone/>
            </a:pPr>
            <a:r>
              <a:rPr lang="es" b="1" sz="1600">
                <a:solidFill>
                  <a:srgbClr val="000000"/>
                </a:solidFill>
              </a:rPr>
              <a:t>Cada layout ubica solo a sus hijos directos. Agregar el QR: crear el botón y un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add()</a:t>
            </a:r>
            <a:r>
              <a:rPr lang="es" b="1" sz="1600">
                <a:solidFill>
                  <a:srgbClr val="000000"/>
                </a:solidFill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100"/>
          <p:cNvSpPr txBox="1"/>
          <p:nvPr>
            <p:ph type="title"/>
          </p:nvPr>
        </p:nvSpPr>
        <p:spPr>
          <a:xfrm>
            <a:off x="729450" y="900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>
                <a:solidFill>
                  <a:srgbClr val="000000"/>
                </a:solidFill>
              </a:rPr>
              <a:t>El tamaño también cuenta</a:t>
            </a:r>
            <a:endParaRPr/>
          </a:p>
        </p:txBody>
      </p:sp>
      <p:sp>
        <p:nvSpPr>
          <p:cNvPr id="101" name="Shape 101"/>
          <p:cNvSpPr txBox="1"/>
          <p:nvPr>
            <p:ph idx="1" type="body"/>
          </p:nvPr>
        </p:nvSpPr>
        <p:spPr>
          <a:xfrm>
            <a:off x="729450" y="1560000"/>
            <a:ext cx="4900000" cy="2560000"/>
          </a:xfrm>
          <a:prstGeom prst="rect">
            <a:avLst/>
          </a:prstGeom>
          <a:solidFill>
            <a:srgbClr val="F8F8F8"/>
          </a:solidFill>
          <a:ln w="9525">
            <a:solidFill>
              <a:srgbClr val="D3D7CF"/>
            </a:solidFill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 i="1">
                <a:solidFill>
                  <a:srgbClr val="7A4A00"/>
                </a:solidFill>
                <a:latin typeface="Courier New"/>
                <a:cs typeface="Courier New"/>
              </a:rPr>
              <a:t>// Al agrandar, la fuente queda en 12 puntos (arriba).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 i="1">
                <a:solidFill>
                  <a:srgbClr val="7A4A00"/>
                </a:solidFill>
                <a:latin typeface="Courier New"/>
                <a:cs typeface="Courier New"/>
              </a:rPr>
              <a:t>// Pantalla tactil: la fuente se escala (abajo):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ventana.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addComponentListener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new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ComponentAdapter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public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void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componentResized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(ComponentEvent e)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escalarFuentes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});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private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void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escalarFuentes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float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factor </a:t>
            </a:r>
            <a:r>
              <a:rPr lang="es" sz="1100" b="1">
                <a:solidFill>
                  <a:srgbClr val="CE5C00"/>
                </a:solidFill>
                <a:latin typeface="Courier New"/>
                <a:cs typeface="Courier New"/>
              </a:rPr>
              <a:t>=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(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float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) ventana.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getHeight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                  </a:t>
            </a:r>
            <a:r>
              <a:rPr lang="es" sz="1100" b="1">
                <a:solidFill>
                  <a:srgbClr val="CE5C00"/>
                </a:solidFill>
                <a:latin typeface="Courier New"/>
                <a:cs typeface="Courier New"/>
              </a:rPr>
              <a:t>/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altoInicial;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escalar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getContentPane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(), fuenteInicial </a:t>
            </a:r>
            <a:r>
              <a:rPr lang="es" sz="1100" b="1">
                <a:solidFill>
                  <a:srgbClr val="CE5C00"/>
                </a:solidFill>
                <a:latin typeface="Courier New"/>
                <a:cs typeface="Courier New"/>
              </a:rPr>
              <a:t>*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factor);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    ventana.</a:t>
            </a:r>
            <a:r>
              <a:rPr lang="es" sz="1100" b="1">
                <a:solidFill>
                  <a:srgbClr val="204A87"/>
                </a:solidFill>
                <a:latin typeface="Courier New"/>
                <a:cs typeface="Courier New"/>
              </a:rPr>
              <a:t>revalidate</a:t>
            </a: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();   </a:t>
            </a:r>
            <a:r>
              <a:rPr lang="es" sz="1100" b="1" i="1">
                <a:solidFill>
                  <a:srgbClr val="7A4A00"/>
                </a:solidFill>
                <a:latin typeface="Courier New"/>
                <a:cs typeface="Courier New"/>
              </a:rPr>
              <a:t>// los layouts recalculan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1100" b="1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  <a:endParaRPr/>
          </a:p>
        </p:txBody>
      </p:sp>
      <p:pic>
        <p:nvPicPr>
          <p:cNvPr id="102" name="Imagen 1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450" y="1560000"/>
            <a:ext cx="2622279" cy="2560000"/>
          </a:xfrm>
          <a:prstGeom prst="rect">
            <a:avLst/>
          </a:prstGeom>
        </p:spPr>
      </p:pic>
      <p:sp>
        <p:nvSpPr>
          <p:cNvPr id="103" name="Shape 103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SzPts val="1600"/>
              <a:buNone/>
            </a:pPr>
            <a:r>
              <a:rPr lang="es" b="1" sz="1600">
                <a:solidFill>
                  <a:srgbClr val="000000"/>
                </a:solidFill>
              </a:rPr>
              <a:t>El layout ubica y dimensiona componentes. El tamaño del texto se decide aparte, y a veces la ubicación sola no alcanza.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/>
          <p:nvPr>
            <p:ph type="title"/>
          </p:nvPr>
        </p:nvSpPr>
        <p:spPr>
          <a:xfrm>
            <a:off x="729450" y="900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>
                <a:solidFill>
                  <a:srgbClr val="000000"/>
                </a:solidFill>
              </a:rPr>
              <a:t>Otros layouts</a:t>
            </a:r>
            <a:endParaRPr/>
          </a:p>
        </p:txBody>
      </p:sp>
      <p:sp>
        <p:nvSpPr>
          <p:cNvPr id="111" name="Shape 111"/>
          <p:cNvSpPr txBox="1"/>
          <p:nvPr>
            <p:ph idx="1" type="body"/>
          </p:nvPr>
        </p:nvSpPr>
        <p:spPr>
          <a:xfrm>
            <a:off x="729450" y="1560000"/>
            <a:ext cx="7688700" cy="256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600"/>
              </a:spcAft>
              <a:buSzPts val="1600"/>
            </a:pP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BoxLayout</a:t>
            </a:r>
            <a:r>
              <a:rPr lang="es" sz="1600">
                <a:solidFill>
                  <a:srgbClr val="000000"/>
                </a:solidFill>
              </a:rPr>
              <a:t>: una sola fila o una sola columna, sin pasar a la siguiente.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600"/>
              </a:spcAft>
              <a:buSzPts val="1600"/>
            </a:pP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GridBagLayout</a:t>
            </a:r>
            <a:r>
              <a:rPr lang="es" sz="1600">
                <a:solidFill>
                  <a:srgbClr val="000000"/>
                </a:solidFill>
              </a:rPr>
              <a:t>: grilla con celdas de distinto tamaño; un componente puede ocupar varias. El más flexible y el más largo de escribir.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600"/>
              </a:spcAft>
              <a:buSzPts val="1600"/>
            </a:pP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CardLayout</a:t>
            </a:r>
            <a:r>
              <a:rPr lang="es" sz="1600">
                <a:solidFill>
                  <a:srgbClr val="000000"/>
                </a:solidFill>
              </a:rPr>
              <a:t>: un componente visible por vez, y se cambia por código.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600"/>
              </a:spcAft>
              <a:buSzPts val="1600"/>
            </a:pPr>
            <a:r>
              <a:rPr lang="es" sz="1600">
                <a:solidFill>
                  <a:srgbClr val="000000"/>
                </a:solidFill>
              </a:rPr>
              <a:t>Con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BorderLayout</a:t>
            </a:r>
            <a:r>
              <a:rPr lang="es" sz="1600">
                <a:solidFill>
                  <a:srgbClr val="000000"/>
                </a:solidFill>
              </a:rPr>
              <a:t>,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FlowLayout</a:t>
            </a:r>
            <a:r>
              <a:rPr lang="es" sz="1600">
                <a:solidFill>
                  <a:srgbClr val="000000"/>
                </a:solidFill>
              </a:rPr>
              <a:t>,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GridLayout</a:t>
            </a:r>
            <a:r>
              <a:rPr lang="es" sz="1600">
                <a:solidFill>
                  <a:srgbClr val="000000"/>
                </a:solidFill>
              </a:rPr>
              <a:t> y paneles anidados sale casi cualquier ventana de escritorio.</a:t>
            </a:r>
            <a:endParaRPr/>
          </a:p>
        </p:txBody>
      </p:sp>
      <p:sp>
        <p:nvSpPr>
          <p:cNvPr id="112" name="Shape 112"/>
          <p:cNvSpPr txBox="1"/>
          <p:nvPr>
            <p:ph idx="1" type="body"/>
          </p:nvPr>
        </p:nvSpPr>
        <p:spPr>
          <a:xfrm>
            <a:off x="729450" y="4180000"/>
            <a:ext cx="7688700" cy="8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600"/>
              </a:spcAft>
              <a:buSzPts val="1600"/>
              <a:buNone/>
            </a:pPr>
            <a:r>
              <a:rPr lang="es" b="1" sz="1600">
                <a:solidFill>
                  <a:srgbClr val="000000"/>
                </a:solidFill>
              </a:rPr>
              <a:t>Cambiar la disposición de un panel es cambiar un objeto. Los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add()</a:t>
            </a:r>
            <a:r>
              <a:rPr lang="es" b="1" sz="1600">
                <a:solidFill>
                  <a:srgbClr val="000000"/>
                </a:solidFill>
              </a:rPr>
              <a:t> no cambian.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>
            <p:ph type="title"/>
          </p:nvPr>
        </p:nvSpPr>
        <p:spPr>
          <a:xfrm>
            <a:off x="729450" y="900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>
                <a:solidFill>
                  <a:srgbClr val="000000"/>
                </a:solidFill>
              </a:rPr>
              <a:t>Resumen</a:t>
            </a:r>
            <a:endParaRPr/>
          </a:p>
        </p:txBody>
      </p:sp>
      <p:sp>
        <p:nvSpPr>
          <p:cNvPr id="121" name="Shape 121"/>
          <p:cNvSpPr txBox="1"/>
          <p:nvPr>
            <p:ph idx="1" type="body"/>
          </p:nvPr>
        </p:nvSpPr>
        <p:spPr>
          <a:xfrm>
            <a:off x="729450" y="1560000"/>
            <a:ext cx="7688700" cy="33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600"/>
              </a:spcAft>
              <a:buSzPts val="1600"/>
            </a:pP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setLayout(null)</a:t>
            </a:r>
            <a:r>
              <a:rPr lang="es" sz="1600">
                <a:solidFill>
                  <a:srgbClr val="000000"/>
                </a:solidFill>
              </a:rPr>
              <a:t> y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setBounds()</a:t>
            </a:r>
            <a:r>
              <a:rPr lang="es" sz="1600">
                <a:solidFill>
                  <a:srgbClr val="000000"/>
                </a:solidFill>
              </a:rPr>
              <a:t>: coordenadas fijas. Al agrandar, nada se reubica.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600"/>
              </a:spcAft>
              <a:buSzPts val="1600"/>
            </a:pPr>
            <a:r>
              <a:rPr lang="es" sz="1600">
                <a:solidFill>
                  <a:srgbClr val="000000"/>
                </a:solidFill>
              </a:rPr>
              <a:t>Un layout manager implementa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LayoutManager</a:t>
            </a:r>
            <a:r>
              <a:rPr lang="es" sz="1600">
                <a:solidFill>
                  <a:srgbClr val="000000"/>
                </a:solidFill>
              </a:rPr>
              <a:t> y calcula las coordenadas cada vez que el contenedor cambia.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600"/>
              </a:spcAft>
              <a:buSzPts val="1600"/>
            </a:pP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FlowLayout</a:t>
            </a:r>
            <a:r>
              <a:rPr lang="es" sz="1600">
                <a:solidFill>
                  <a:srgbClr val="000000"/>
                </a:solidFill>
              </a:rPr>
              <a:t>: en fila, tamaño preferido.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BorderLayout</a:t>
            </a:r>
            <a:r>
              <a:rPr lang="es" sz="1600">
                <a:solidFill>
                  <a:srgbClr val="000000"/>
                </a:solidFill>
              </a:rPr>
              <a:t>: cinco regiones.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GridLayout</a:t>
            </a:r>
            <a:r>
              <a:rPr lang="es" sz="1600">
                <a:solidFill>
                  <a:srgbClr val="000000"/>
                </a:solidFill>
              </a:rPr>
              <a:t>: celdas iguales.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600"/>
              </a:spcAft>
              <a:buSzPts val="1600"/>
            </a:pPr>
            <a:r>
              <a:rPr lang="es" sz="1600">
                <a:solidFill>
                  <a:srgbClr val="000000"/>
                </a:solidFill>
              </a:rPr>
              <a:t>Una región, un panel, con su propio layout.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pack()</a:t>
            </a:r>
            <a:r>
              <a:rPr lang="es" sz="1600">
                <a:solidFill>
                  <a:srgbClr val="000000"/>
                </a:solidFill>
              </a:rPr>
              <a:t> en vez de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setSize()</a:t>
            </a:r>
            <a:r>
              <a:rPr lang="es" sz="1600">
                <a:solidFill>
                  <a:srgbClr val="000000"/>
                </a:solidFill>
              </a:rPr>
              <a:t>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600"/>
              </a:spcAft>
              <a:buSzPts val="1600"/>
            </a:pPr>
            <a:r>
              <a:rPr lang="es" sz="1600">
                <a:solidFill>
                  <a:srgbClr val="000000"/>
                </a:solidFill>
              </a:rPr>
              <a:t>El controlador se registra en los mismos métodos: solo cambió la vista.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130"/>
          <p:cNvSpPr txBox="1"/>
          <p:nvPr>
            <p:ph type="title"/>
          </p:nvPr>
        </p:nvSpPr>
        <p:spPr>
          <a:xfrm>
            <a:off x="729450" y="900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s">
                <a:solidFill>
                  <a:srgbClr val="000000"/>
                </a:solidFill>
              </a:rPr>
              <a:t>La actividad de hoy</a:t>
            </a:r>
            <a:endParaRPr/>
          </a:p>
        </p:txBody>
      </p:sp>
      <p:sp>
        <p:nvSpPr>
          <p:cNvPr id="131" name="Shape 131"/>
          <p:cNvSpPr txBox="1"/>
          <p:nvPr>
            <p:ph idx="1" type="body"/>
          </p:nvPr>
        </p:nvSpPr>
        <p:spPr>
          <a:xfrm>
            <a:off x="729450" y="1560000"/>
            <a:ext cx="7688700" cy="335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600"/>
              </a:spcAft>
              <a:buSzPts val="1600"/>
            </a:pPr>
            <a:r>
              <a:rPr lang="es" sz="1600">
                <a:solidFill>
                  <a:srgbClr val="000000"/>
                </a:solidFill>
              </a:rPr>
              <a:t>El conversor de la clase pasada, con tres botones y coordenadas a mano. La ventana ya se puede agrandar.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600"/>
              </a:spcAft>
              <a:buSzPts val="1600"/>
            </a:pPr>
            <a:r>
              <a:rPr lang="es" b="1" sz="1600">
                <a:solidFill>
                  <a:srgbClr val="000000"/>
                </a:solidFill>
              </a:rPr>
              <a:t>Parte 1</a:t>
            </a:r>
            <a:r>
              <a:rPr lang="es" sz="1600">
                <a:solidFill>
                  <a:srgbClr val="000000"/>
                </a:solidFill>
              </a:rPr>
              <a:t>: agrandar la ventana y ver que nada se reubica. Un texto más largo se recorta.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600"/>
              </a:spcAft>
              <a:buSzPts val="1600"/>
            </a:pPr>
            <a:r>
              <a:rPr lang="es" b="1" sz="1600">
                <a:solidFill>
                  <a:srgbClr val="000000"/>
                </a:solidFill>
              </a:rPr>
              <a:t>Parte 2</a:t>
            </a:r>
            <a:r>
              <a:rPr lang="es" sz="1600">
                <a:solidFill>
                  <a:srgbClr val="000000"/>
                </a:solidFill>
              </a:rPr>
              <a:t>: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BorderLayout</a:t>
            </a:r>
            <a:r>
              <a:rPr lang="es" sz="1600">
                <a:solidFill>
                  <a:srgbClr val="000000"/>
                </a:solidFill>
              </a:rPr>
              <a:t> en la ventana. La etiqueta y el campo en un panel al norte, el resultado al sur, los botones en un panel al centro.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pack()</a:t>
            </a:r>
            <a:r>
              <a:rPr lang="es" sz="1600">
                <a:solidFill>
                  <a:srgbClr val="000000"/>
                </a:solidFill>
              </a:rPr>
              <a:t>. Probar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FlowLayout</a:t>
            </a:r>
            <a:r>
              <a:rPr lang="es" sz="1600">
                <a:solidFill>
                  <a:srgbClr val="000000"/>
                </a:solidFill>
              </a:rPr>
              <a:t> contra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GridLayout</a:t>
            </a:r>
            <a:r>
              <a:rPr lang="es" sz="1600">
                <a:solidFill>
                  <a:srgbClr val="000000"/>
                </a:solidFill>
              </a:rPr>
              <a:t>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600"/>
              </a:spcAft>
              <a:buSzPts val="1600"/>
            </a:pPr>
            <a:r>
              <a:rPr lang="es" b="1" sz="1600">
                <a:solidFill>
                  <a:srgbClr val="000000"/>
                </a:solidFill>
              </a:rPr>
              <a:t>Parte 3</a:t>
            </a:r>
            <a:r>
              <a:rPr lang="es" sz="1600">
                <a:solidFill>
                  <a:srgbClr val="000000"/>
                </a:solidFill>
              </a:rPr>
              <a:t>: las libras. Crear el botón y un </a:t>
            </a:r>
            <a:r>
              <a:rPr lang="es" b="1" sz="1600">
                <a:solidFill>
                  <a:srgbClr val="000000"/>
                </a:solidFill>
                <a:latin typeface="Courier New"/>
                <a:cs typeface="Courier New"/>
              </a:rPr>
              <a:t>add()</a:t>
            </a:r>
            <a:r>
              <a:rPr lang="es" sz="1600">
                <a:solidFill>
                  <a:srgbClr val="000000"/>
                </a:solidFill>
              </a:rPr>
              <a:t>: ninguna coordenada que recalcular.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