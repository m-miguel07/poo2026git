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Lat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1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3"/>
          <p:cNvGrpSpPr/>
          <p:nvPr/>
        </p:nvGrpSpPr>
        <p:grpSpPr>
          <a:xfrm>
            <a:off x="830391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4"/>
          <p:cNvGrpSpPr/>
          <p:nvPr/>
        </p:nvGrpSpPr>
        <p:grpSpPr>
          <a:xfrm>
            <a:off x="830391" y="4169130"/>
            <a:ext cx="745763" cy="45826"/>
            <a:chOff x="4580561" y="2589004"/>
            <a:chExt cx="1064464" cy="25200"/>
          </a:xfrm>
        </p:grpSpPr>
        <p:sp>
          <p:nvSpPr>
            <p:cNvPr id="27" name="Google Shape;27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4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1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41;p6"/>
          <p:cNvGrpSpPr/>
          <p:nvPr/>
        </p:nvGrpSpPr>
        <p:grpSpPr>
          <a:xfrm>
            <a:off x="830391" y="1191256"/>
            <a:ext cx="745763" cy="45826"/>
            <a:chOff x="4580561" y="2589004"/>
            <a:chExt cx="1064464" cy="25200"/>
          </a:xfrm>
        </p:grpSpPr>
        <p:sp>
          <p:nvSpPr>
            <p:cNvPr id="42" name="Google Shape;42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" name="Google Shape;44;p6"/>
          <p:cNvSpPr txBox="1"/>
          <p:nvPr>
            <p:ph type="title"/>
          </p:nvPr>
        </p:nvSpPr>
        <p:spPr>
          <a:xfrm>
            <a:off x="729450" y="1322450"/>
            <a:ext cx="7688400" cy="15185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" name="Google Shape;48;p7"/>
          <p:cNvGrpSpPr/>
          <p:nvPr/>
        </p:nvGrpSpPr>
        <p:grpSpPr>
          <a:xfrm>
            <a:off x="830391" y="1191256"/>
            <a:ext cx="745763" cy="45826"/>
            <a:chOff x="4580561" y="2589004"/>
            <a:chExt cx="1064464" cy="25200"/>
          </a:xfrm>
        </p:grpSpPr>
        <p:sp>
          <p:nvSpPr>
            <p:cNvPr id="49" name="Google Shape;49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" name="Google Shape;51;p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" name="Google Shape;55;p8"/>
          <p:cNvGrpSpPr/>
          <p:nvPr/>
        </p:nvGrpSpPr>
        <p:grpSpPr>
          <a:xfrm>
            <a:off x="830391" y="1191256"/>
            <a:ext cx="745763" cy="45826"/>
            <a:chOff x="4580561" y="2589004"/>
            <a:chExt cx="1064464" cy="25200"/>
          </a:xfrm>
        </p:grpSpPr>
        <p:sp>
          <p:nvSpPr>
            <p:cNvPr id="56" name="Google Shape;56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" name="Google Shape;58;p8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9" name="Google Shape;59;p8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1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1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8" name="Google Shape;88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2" name="Google Shape;9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7"/>
          <p:cNvSpPr txBox="1"/>
          <p:nvPr>
            <p:ph idx="2" type="body"/>
          </p:nvPr>
        </p:nvSpPr>
        <p:spPr>
          <a:xfrm>
            <a:off x="4832399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1"/>
          <p:cNvSpPr txBox="1"/>
          <p:nvPr>
            <p:ph type="title"/>
          </p:nvPr>
        </p:nvSpPr>
        <p:spPr>
          <a:xfrm>
            <a:off x="265500" y="1233175"/>
            <a:ext cx="4045199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5" name="Google Shape;115;p21"/>
          <p:cNvSpPr txBox="1"/>
          <p:nvPr>
            <p:ph idx="1" type="subTitle"/>
          </p:nvPr>
        </p:nvSpPr>
        <p:spPr>
          <a:xfrm>
            <a:off x="265500" y="2803075"/>
            <a:ext cx="4045199" cy="12350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6" name="Google Shape;116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4" name="Google Shape;12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Unidad 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Polimorfismo</a:t>
            </a:r>
            <a:endParaRPr/>
          </a:p>
        </p:txBody>
      </p:sp>
      <p:sp>
        <p:nvSpPr>
          <p:cNvPr id="133" name="Google Shape;133;p25"/>
          <p:cNvSpPr txBox="1"/>
          <p:nvPr>
            <p:ph idx="1" type="subTitle"/>
          </p:nvPr>
        </p:nvSpPr>
        <p:spPr>
          <a:xfrm>
            <a:off x="618600" y="3981338"/>
            <a:ext cx="7688100" cy="1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"/>
              <a:t>Prof: Lic. Rosales Pablo (prosales@unpata.edu.ar)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"/>
              <a:t>Materia: Programación Orientada a Objetos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"/>
              <a:t>Año: 2026</a:t>
            </a:r>
            <a:endParaRPr/>
          </a:p>
        </p:txBody>
      </p:sp>
      <p:pic>
        <p:nvPicPr>
          <p:cNvPr id="134" name="Google Shape;13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0300" y="3692238"/>
            <a:ext cx="1136699" cy="113669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 txBox="1"/>
          <p:nvPr/>
        </p:nvSpPr>
        <p:spPr>
          <a:xfrm>
            <a:off x="0" y="214625"/>
            <a:ext cx="9144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Departamento de Informática, Facultad de Ingeniería, Universidad Nacional de la Patagonia San Juan Bosco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631949" y="632399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2600"/>
              <a:buNone/>
            </a:pPr>
            <a:r>
              <a:rPr lang="es"/>
              <a:t>La pre clase, en dos preguntas</a:t>
            </a:r>
            <a:endParaRPr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729450" y="1560000"/>
            <a:ext cx="7688700" cy="2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 sz="1300"/>
              <a:t>El cierre de caja del local: listar todos los cobros del </a:t>
            </a:r>
            <a:r>
              <a:rPr lang="es"/>
              <a:t>día</a:t>
            </a:r>
            <a:r>
              <a:rPr lang="es" sz="1300"/>
              <a:t> y sumar cuanto se acredita.</a:t>
            </a:r>
            <a:endParaRPr/>
          </a:p>
          <a:p>
            <a:pPr indent="-311150" lvl="0" marL="457200" rtl="0" algn="l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SzPts val="1300"/>
              <a:buChar char="●"/>
            </a:pPr>
            <a:r>
              <a:rPr lang="es" sz="1300"/>
              <a:t>Estaba escrito como tres bucles </a:t>
            </a:r>
            <a:r>
              <a:rPr lang="es"/>
              <a:t>idénticos</a:t>
            </a:r>
            <a:r>
              <a:rPr lang="es" sz="1300"/>
              <a:t>, uno por medio de pago</a:t>
            </a:r>
            <a:r>
              <a:rPr lang="es"/>
              <a:t> ¿</a:t>
            </a:r>
            <a:r>
              <a:rPr lang="es" sz="1300"/>
              <a:t>Que pasa el dia que se acepten transferencias?</a:t>
            </a:r>
            <a:endParaRPr/>
          </a:p>
          <a:p>
            <a:pPr indent="-311150" lvl="0" marL="457200" rtl="0" algn="l">
              <a:lnSpc>
                <a:spcPct val="114999"/>
              </a:lnSpc>
              <a:spcBef>
                <a:spcPts val="600"/>
              </a:spcBef>
              <a:spcAft>
                <a:spcPts val="600"/>
              </a:spcAft>
              <a:buSzPts val="1300"/>
              <a:buChar char="●"/>
            </a:pPr>
            <a:r>
              <a:rPr lang="es" sz="1300"/>
              <a:t>Las clases 5 y 6 ya dejaron todo lo necesario para que ese tercer bucle no exista</a:t>
            </a:r>
            <a:r>
              <a:rPr lang="es"/>
              <a:t> ¿</a:t>
            </a:r>
            <a:r>
              <a:rPr lang="es"/>
              <a:t>Qué</a:t>
            </a:r>
            <a:r>
              <a:rPr lang="es" sz="1300"/>
              <a:t> es lo que falta?</a:t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729450" y="4180000"/>
            <a:ext cx="76887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600"/>
              </a:spcAft>
              <a:buSzPts val="1300"/>
              <a:buNone/>
            </a:pPr>
            <a:r>
              <a:rPr b="1" lang="es" sz="1300"/>
              <a:t>Falta poder escribir un solo bucle que no pregunte de </a:t>
            </a:r>
            <a:r>
              <a:rPr b="1" lang="es"/>
              <a:t>qué</a:t>
            </a:r>
            <a:r>
              <a:rPr b="1" lang="es" sz="1300"/>
              <a:t> tipo es cada pago.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type="title"/>
          </p:nvPr>
        </p:nvSpPr>
        <p:spPr>
          <a:xfrm>
            <a:off x="727650" y="632399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2600"/>
              <a:buNone/>
            </a:pPr>
            <a:r>
              <a:rPr lang="es"/>
              <a:t>El problema: tres bucles iguales</a:t>
            </a:r>
            <a:endParaRPr/>
          </a:p>
        </p:txBody>
      </p:sp>
      <p:sp>
        <p:nvSpPr>
          <p:cNvPr id="150" name="Google Shape;150;p27"/>
          <p:cNvSpPr txBox="1"/>
          <p:nvPr>
            <p:ph idx="1" type="body"/>
          </p:nvPr>
        </p:nvSpPr>
        <p:spPr>
          <a:xfrm>
            <a:off x="729450" y="1560000"/>
            <a:ext cx="7688700" cy="25600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D3D7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s" sz="1200">
                <a:solidFill>
                  <a:srgbClr val="204A87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(PagoDebito pago </a:t>
            </a:r>
            <a:r>
              <a:rPr b="1" lang="es" sz="1200">
                <a:solidFill>
                  <a:srgbClr val="CE5C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debitos)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total </a:t>
            </a:r>
            <a:r>
              <a:rPr b="1" lang="es" sz="1200">
                <a:solidFill>
                  <a:srgbClr val="CE5C00"/>
                </a:solidFill>
                <a:latin typeface="Courier New"/>
                <a:ea typeface="Courier New"/>
                <a:cs typeface="Courier New"/>
                <a:sym typeface="Courier New"/>
              </a:rPr>
              <a:t>+=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pago.</a:t>
            </a:r>
            <a:r>
              <a:rPr b="1" lang="es" sz="1200">
                <a:solidFill>
                  <a:srgbClr val="204A87"/>
                </a:solidFill>
                <a:latin typeface="Courier New"/>
                <a:ea typeface="Courier New"/>
                <a:cs typeface="Courier New"/>
                <a:sym typeface="Courier New"/>
              </a:rPr>
              <a:t>montoAcreditado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s" sz="1200">
                <a:solidFill>
                  <a:srgbClr val="204A87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(PagoCredito pago </a:t>
            </a:r>
            <a:r>
              <a:rPr b="1" lang="es" sz="1200">
                <a:solidFill>
                  <a:srgbClr val="CE5C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creditos)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total </a:t>
            </a:r>
            <a:r>
              <a:rPr b="1" lang="es" sz="1200">
                <a:solidFill>
                  <a:srgbClr val="CE5C00"/>
                </a:solidFill>
                <a:latin typeface="Courier New"/>
                <a:ea typeface="Courier New"/>
                <a:cs typeface="Courier New"/>
                <a:sym typeface="Courier New"/>
              </a:rPr>
              <a:t>+=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pago.</a:t>
            </a:r>
            <a:r>
              <a:rPr b="1" lang="es" sz="1200">
                <a:solidFill>
                  <a:srgbClr val="204A87"/>
                </a:solidFill>
                <a:latin typeface="Courier New"/>
                <a:ea typeface="Courier New"/>
                <a:cs typeface="Courier New"/>
                <a:sym typeface="Courier New"/>
              </a:rPr>
              <a:t>montoAcreditado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s" sz="1200">
                <a:solidFill>
                  <a:srgbClr val="204A87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(PagoQR pago </a:t>
            </a:r>
            <a:r>
              <a:rPr b="1" lang="es" sz="1200">
                <a:solidFill>
                  <a:srgbClr val="CE5C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qrs)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total </a:t>
            </a:r>
            <a:r>
              <a:rPr b="1" lang="es" sz="1200">
                <a:solidFill>
                  <a:srgbClr val="CE5C00"/>
                </a:solidFill>
                <a:latin typeface="Courier New"/>
                <a:ea typeface="Courier New"/>
                <a:cs typeface="Courier New"/>
                <a:sym typeface="Courier New"/>
              </a:rPr>
              <a:t>+=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pago.</a:t>
            </a:r>
            <a:r>
              <a:rPr b="1" lang="es" sz="1200">
                <a:solidFill>
                  <a:srgbClr val="204A87"/>
                </a:solidFill>
                <a:latin typeface="Courier New"/>
                <a:ea typeface="Courier New"/>
                <a:cs typeface="Courier New"/>
                <a:sym typeface="Courier New"/>
              </a:rPr>
              <a:t>montoAcreditado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729450" y="4180000"/>
            <a:ext cx="76887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600"/>
              </a:spcAft>
              <a:buSzPts val="1300"/>
              <a:buNone/>
            </a:pPr>
            <a:r>
              <a:rPr b="1" lang="es" sz="1300"/>
              <a:t>El cierre de caja conoce por nombre a cada medio de pago. Cada medio nuevo lo obliga a cambiar.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727649" y="632399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2600"/>
              <a:buNone/>
            </a:pPr>
            <a:r>
              <a:rPr lang="es"/>
              <a:t>Una variable de un tipo, un objeto de otro</a:t>
            </a:r>
            <a:endParaRPr/>
          </a:p>
        </p:txBody>
      </p:sp>
      <p:sp>
        <p:nvSpPr>
          <p:cNvPr id="158" name="Google Shape;158;p28"/>
          <p:cNvSpPr txBox="1"/>
          <p:nvPr>
            <p:ph idx="1" type="body"/>
          </p:nvPr>
        </p:nvSpPr>
        <p:spPr>
          <a:xfrm>
            <a:off x="729450" y="1560000"/>
            <a:ext cx="7688700" cy="25600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D3D7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Pago pago </a:t>
            </a:r>
            <a:r>
              <a:rPr b="1" lang="es" sz="1200">
                <a:solidFill>
                  <a:srgbClr val="CE5C0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s" sz="1200">
                <a:solidFill>
                  <a:srgbClr val="204A87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s" sz="1200">
                <a:solidFill>
                  <a:srgbClr val="204A87"/>
                </a:solidFill>
                <a:latin typeface="Courier New"/>
                <a:ea typeface="Courier New"/>
                <a:cs typeface="Courier New"/>
                <a:sym typeface="Courier New"/>
              </a:rPr>
              <a:t>PagoQR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200">
                <a:solidFill>
                  <a:srgbClr val="0000C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venta, </a:t>
            </a:r>
            <a:r>
              <a:rPr lang="es" sz="1200">
                <a:solidFill>
                  <a:srgbClr val="4E9A06"/>
                </a:solidFill>
                <a:latin typeface="Courier New"/>
                <a:ea typeface="Courier New"/>
                <a:cs typeface="Courier New"/>
                <a:sym typeface="Courier New"/>
              </a:rPr>
              <a:t>"PAGO;lapampa.kiosco;ARS"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pago.</a:t>
            </a:r>
            <a:r>
              <a:rPr b="1" lang="es" sz="1200">
                <a:solidFill>
                  <a:srgbClr val="204A87"/>
                </a:solidFill>
                <a:latin typeface="Courier New"/>
                <a:ea typeface="Courier New"/>
                <a:cs typeface="Courier New"/>
                <a:sym typeface="Courier New"/>
              </a:rPr>
              <a:t>mostrarComprobante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();    </a:t>
            </a:r>
            <a:r>
              <a:rPr i="1" lang="es" sz="1200">
                <a:solidFill>
                  <a:srgbClr val="8F5902"/>
                </a:solidFill>
                <a:latin typeface="Courier New"/>
                <a:ea typeface="Courier New"/>
                <a:cs typeface="Courier New"/>
                <a:sym typeface="Courier New"/>
              </a:rPr>
              <a:t>// compila: Pago lo declara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pago.</a:t>
            </a:r>
            <a:r>
              <a:rPr b="1" lang="es" sz="1200">
                <a:solidFill>
                  <a:srgbClr val="204A87"/>
                </a:solidFill>
                <a:latin typeface="Courier New"/>
                <a:ea typeface="Courier New"/>
                <a:cs typeface="Courier New"/>
                <a:sym typeface="Courier New"/>
              </a:rPr>
              <a:t>armarSolicitudCobro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();   </a:t>
            </a:r>
            <a:r>
              <a:rPr i="1" lang="es" sz="1200">
                <a:solidFill>
                  <a:srgbClr val="8F5902"/>
                </a:solidFill>
                <a:latin typeface="Courier New"/>
                <a:ea typeface="Courier New"/>
                <a:cs typeface="Courier New"/>
                <a:sym typeface="Courier New"/>
              </a:rPr>
              <a:t>// NO compila, aunque el objeto sea un PagoQR</a:t>
            </a:r>
            <a:endParaRPr/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729450" y="4180000"/>
            <a:ext cx="76887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600"/>
              </a:spcAft>
              <a:buSzPts val="1300"/>
              <a:buNone/>
            </a:pPr>
            <a:r>
              <a:rPr b="1" lang="es" sz="1300"/>
              <a:t>Tipo </a:t>
            </a:r>
            <a:r>
              <a:rPr b="1" lang="es"/>
              <a:t>estático</a:t>
            </a:r>
            <a:r>
              <a:rPr b="1" lang="es" sz="1300"/>
              <a:t>: el de la variable. Tipo </a:t>
            </a:r>
            <a:r>
              <a:rPr b="1" lang="es"/>
              <a:t>dinámico</a:t>
            </a:r>
            <a:r>
              <a:rPr b="1" lang="es" sz="1300"/>
              <a:t>: el del objeto. La referencia solo ve lo que su tipo declara.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729450" y="1500000"/>
            <a:ext cx="7021200" cy="1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"/>
              <a:t>El compilador mira la variable.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" sz="1800"/>
              <a:t>La ejecución mira el objeto.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>
            <p:ph type="title"/>
          </p:nvPr>
        </p:nvSpPr>
        <p:spPr>
          <a:xfrm>
            <a:off x="789449" y="5850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2600"/>
              <a:buNone/>
            </a:pPr>
            <a:r>
              <a:rPr lang="es"/>
              <a:t>Que decide cada uno</a:t>
            </a:r>
            <a:endParaRPr/>
          </a:p>
        </p:txBody>
      </p:sp>
      <p:sp>
        <p:nvSpPr>
          <p:cNvPr id="172" name="Google Shape;172;p30"/>
          <p:cNvSpPr txBox="1"/>
          <p:nvPr>
            <p:ph idx="1" type="body"/>
          </p:nvPr>
        </p:nvSpPr>
        <p:spPr>
          <a:xfrm>
            <a:off x="729450" y="1560000"/>
            <a:ext cx="3720000" cy="2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" sz="1400"/>
              <a:t>El compilador</a:t>
            </a:r>
            <a:endParaRPr/>
          </a:p>
          <a:p>
            <a:pPr indent="-311150" lvl="0" marL="457200" rtl="0" algn="l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s" sz="1300"/>
              <a:t>Verifica que el </a:t>
            </a:r>
            <a:r>
              <a:rPr lang="es"/>
              <a:t>método</a:t>
            </a:r>
            <a:r>
              <a:rPr lang="es" sz="1300"/>
              <a:t> </a:t>
            </a:r>
            <a:r>
              <a:rPr b="1" lang="es" sz="1300"/>
              <a:t>exista</a:t>
            </a:r>
            <a:r>
              <a:rPr lang="es" sz="1300"/>
              <a:t> en el tipo de la variable.</a:t>
            </a:r>
            <a:endParaRPr/>
          </a:p>
          <a:p>
            <a:pPr indent="-311150" lvl="0" marL="457200" rtl="0" algn="l">
              <a:lnSpc>
                <a:spcPct val="114999"/>
              </a:lnSpc>
              <a:spcBef>
                <a:spcPts val="600"/>
              </a:spcBef>
              <a:spcAft>
                <a:spcPts val="600"/>
              </a:spcAft>
              <a:buSzPts val="1300"/>
              <a:buChar char="●"/>
            </a:pPr>
            <a:r>
              <a:rPr lang="es" sz="1300"/>
              <a:t>Si </a:t>
            </a:r>
            <a:r>
              <a:rPr lang="es" sz="1300">
                <a:latin typeface="Courier New"/>
                <a:ea typeface="Courier New"/>
                <a:cs typeface="Courier New"/>
                <a:sym typeface="Courier New"/>
              </a:rPr>
              <a:t>Pago</a:t>
            </a:r>
            <a:r>
              <a:rPr lang="es" sz="1300"/>
              <a:t> no lo declara, no compila. No le importa que el objeto lo tenga.</a:t>
            </a:r>
            <a:endParaRPr/>
          </a:p>
        </p:txBody>
      </p:sp>
      <p:sp>
        <p:nvSpPr>
          <p:cNvPr id="173" name="Google Shape;173;p30"/>
          <p:cNvSpPr txBox="1"/>
          <p:nvPr>
            <p:ph idx="2" type="body"/>
          </p:nvPr>
        </p:nvSpPr>
        <p:spPr>
          <a:xfrm>
            <a:off x="4698150" y="1560000"/>
            <a:ext cx="3720000" cy="2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" sz="1400"/>
              <a:t>La </a:t>
            </a:r>
            <a:r>
              <a:rPr b="1" lang="es" sz="1400"/>
              <a:t>ejecución</a:t>
            </a:r>
            <a:endParaRPr/>
          </a:p>
          <a:p>
            <a:pPr indent="-311150" lvl="0" marL="457200" rtl="0" algn="l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s" sz="1300"/>
              <a:t>Elige </a:t>
            </a:r>
            <a:r>
              <a:rPr b="1" lang="es"/>
              <a:t>cuál</a:t>
            </a:r>
            <a:r>
              <a:rPr b="1" lang="es" sz="1300"/>
              <a:t> </a:t>
            </a:r>
            <a:r>
              <a:rPr b="1" lang="es"/>
              <a:t>versión</a:t>
            </a:r>
            <a:r>
              <a:rPr lang="es" sz="1300"/>
              <a:t> se ejecuta, mirando el objeto real.</a:t>
            </a:r>
            <a:endParaRPr/>
          </a:p>
          <a:p>
            <a:pPr indent="-311150" lvl="0" marL="457200" rtl="0" algn="l">
              <a:lnSpc>
                <a:spcPct val="114999"/>
              </a:lnSpc>
              <a:spcBef>
                <a:spcPts val="600"/>
              </a:spcBef>
              <a:spcAft>
                <a:spcPts val="600"/>
              </a:spcAft>
              <a:buSzPts val="1300"/>
              <a:buChar char="●"/>
            </a:pPr>
            <a:r>
              <a:rPr lang="es" sz="1300"/>
              <a:t>Se llama </a:t>
            </a:r>
            <a:r>
              <a:rPr b="1" lang="es" sz="1300"/>
              <a:t>enlace </a:t>
            </a:r>
            <a:r>
              <a:rPr b="1" lang="es"/>
              <a:t>dinámico</a:t>
            </a:r>
            <a:r>
              <a:rPr lang="es" sz="1300"/>
              <a:t>, y es lo que le da sentido a sobrescribir.</a:t>
            </a:r>
            <a:endParaRPr/>
          </a:p>
        </p:txBody>
      </p:sp>
      <p:sp>
        <p:nvSpPr>
          <p:cNvPr id="174" name="Google Shape;174;p30"/>
          <p:cNvSpPr txBox="1"/>
          <p:nvPr>
            <p:ph idx="1" type="body"/>
          </p:nvPr>
        </p:nvSpPr>
        <p:spPr>
          <a:xfrm>
            <a:off x="729450" y="4180000"/>
            <a:ext cx="76887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600"/>
              </a:spcAft>
              <a:buSzPts val="1300"/>
              <a:buNone/>
            </a:pPr>
            <a:r>
              <a:rPr b="1" lang="es" sz="1300"/>
              <a:t>El mismo mensaje, distinta respuesta, y quien lo </a:t>
            </a:r>
            <a:r>
              <a:rPr b="1" lang="es"/>
              <a:t>envía</a:t>
            </a:r>
            <a:r>
              <a:rPr b="1" lang="es" sz="1300"/>
              <a:t> no necesita saber quien lo recibe.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727650" y="632399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2600"/>
              <a:buNone/>
            </a:pPr>
            <a:r>
              <a:rPr lang="es"/>
              <a:t>El cierre de caja, otra vez</a:t>
            </a:r>
            <a:endParaRPr/>
          </a:p>
        </p:txBody>
      </p:sp>
      <p:sp>
        <p:nvSpPr>
          <p:cNvPr id="181" name="Google Shape;181;p31"/>
          <p:cNvSpPr txBox="1"/>
          <p:nvPr>
            <p:ph idx="1" type="body"/>
          </p:nvPr>
        </p:nvSpPr>
        <p:spPr>
          <a:xfrm>
            <a:off x="729450" y="1560000"/>
            <a:ext cx="7688700" cy="25600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D3D7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s" sz="1200">
                <a:solidFill>
                  <a:srgbClr val="204A87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s" sz="1200">
                <a:solidFill>
                  <a:srgbClr val="204A87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204A87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s" sz="1200">
                <a:solidFill>
                  <a:srgbClr val="204A87"/>
                </a:solidFill>
                <a:latin typeface="Courier New"/>
                <a:ea typeface="Courier New"/>
                <a:cs typeface="Courier New"/>
                <a:sym typeface="Courier New"/>
              </a:rPr>
              <a:t>cerrarCaja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(ArrayList</a:t>
            </a:r>
            <a:r>
              <a:rPr b="1" lang="es" sz="1200">
                <a:solidFill>
                  <a:srgbClr val="CE5C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Pago</a:t>
            </a:r>
            <a:r>
              <a:rPr b="1" lang="es" sz="1200">
                <a:solidFill>
                  <a:srgbClr val="CE5C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pagos)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s" sz="1200">
                <a:solidFill>
                  <a:srgbClr val="204A87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total </a:t>
            </a:r>
            <a:r>
              <a:rPr b="1" lang="es" sz="1200">
                <a:solidFill>
                  <a:srgbClr val="CE5C0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0000CF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s" sz="1200">
                <a:solidFill>
                  <a:srgbClr val="204A87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(Pago pago </a:t>
            </a:r>
            <a:r>
              <a:rPr b="1" lang="es" sz="1200">
                <a:solidFill>
                  <a:srgbClr val="CE5C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pagos)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pago.</a:t>
            </a:r>
            <a:r>
              <a:rPr b="1" lang="es" sz="1200">
                <a:solidFill>
                  <a:srgbClr val="204A87"/>
                </a:solidFill>
                <a:latin typeface="Courier New"/>
                <a:ea typeface="Courier New"/>
                <a:cs typeface="Courier New"/>
                <a:sym typeface="Courier New"/>
              </a:rPr>
              <a:t>mostrarComprobante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();       </a:t>
            </a:r>
            <a:r>
              <a:rPr i="1" lang="es" sz="1200">
                <a:solidFill>
                  <a:srgbClr val="8F5902"/>
                </a:solidFill>
                <a:latin typeface="Courier New"/>
                <a:ea typeface="Courier New"/>
                <a:cs typeface="Courier New"/>
                <a:sym typeface="Courier New"/>
              </a:rPr>
              <a:t>// cada uno imprime el suyo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total </a:t>
            </a:r>
            <a:r>
              <a:rPr b="1" lang="es" sz="1200">
                <a:solidFill>
                  <a:srgbClr val="CE5C00"/>
                </a:solidFill>
                <a:latin typeface="Courier New"/>
                <a:ea typeface="Courier New"/>
                <a:cs typeface="Courier New"/>
                <a:sym typeface="Courier New"/>
              </a:rPr>
              <a:t>+=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pago.</a:t>
            </a:r>
            <a:r>
              <a:rPr b="1" lang="es" sz="1200">
                <a:solidFill>
                  <a:srgbClr val="204A87"/>
                </a:solidFill>
                <a:latin typeface="Courier New"/>
                <a:ea typeface="Courier New"/>
                <a:cs typeface="Courier New"/>
                <a:sym typeface="Courier New"/>
              </a:rPr>
              <a:t>montoAcreditado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i="1" lang="es" sz="1200">
                <a:solidFill>
                  <a:srgbClr val="8F5902"/>
                </a:solidFill>
                <a:latin typeface="Courier New"/>
                <a:ea typeface="Courier New"/>
                <a:cs typeface="Courier New"/>
                <a:sym typeface="Courier New"/>
              </a:rPr>
              <a:t>// cada uno retiene lo suyo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s" sz="1200">
                <a:solidFill>
                  <a:srgbClr val="204A87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total;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182" name="Google Shape;182;p31"/>
          <p:cNvSpPr txBox="1"/>
          <p:nvPr>
            <p:ph idx="1" type="body"/>
          </p:nvPr>
        </p:nvSpPr>
        <p:spPr>
          <a:xfrm>
            <a:off x="729450" y="4180000"/>
            <a:ext cx="76887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600"/>
              </a:spcAft>
              <a:buSzPts val="1300"/>
              <a:buNone/>
            </a:pPr>
            <a:r>
              <a:rPr b="1" lang="es" sz="1300"/>
              <a:t>Ningun if, ningun nombre de subclase. El dia que entre PagoTransferencia, este metodo no se toca.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>
            <p:ph type="title"/>
          </p:nvPr>
        </p:nvSpPr>
        <p:spPr>
          <a:xfrm>
            <a:off x="727650" y="632399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2600"/>
              <a:buNone/>
            </a:pPr>
            <a:r>
              <a:rPr lang="es"/>
              <a:t>Y con interfaces es exactamente lo mismo</a:t>
            </a:r>
            <a:endParaRPr/>
          </a:p>
        </p:txBody>
      </p:sp>
      <p:sp>
        <p:nvSpPr>
          <p:cNvPr id="189" name="Google Shape;189;p32"/>
          <p:cNvSpPr txBox="1"/>
          <p:nvPr>
            <p:ph idx="1" type="body"/>
          </p:nvPr>
        </p:nvSpPr>
        <p:spPr>
          <a:xfrm>
            <a:off x="729450" y="1560000"/>
            <a:ext cx="7688700" cy="2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 sz="1300"/>
              <a:t>El </a:t>
            </a:r>
            <a:r>
              <a:rPr lang="es" sz="1300">
                <a:latin typeface="Courier New"/>
                <a:ea typeface="Courier New"/>
                <a:cs typeface="Courier New"/>
                <a:sym typeface="Courier New"/>
              </a:rPr>
              <a:t>anularTodo(ArrayList&lt;Anulable&gt; operaciones)</a:t>
            </a:r>
            <a:r>
              <a:rPr lang="es" sz="1300"/>
              <a:t> de la clase pasada ya era </a:t>
            </a:r>
            <a:r>
              <a:rPr lang="es"/>
              <a:t>polimórfico</a:t>
            </a:r>
            <a:r>
              <a:rPr lang="es" sz="1300"/>
              <a:t>, sin haberlo nombrado.</a:t>
            </a:r>
            <a:endParaRPr/>
          </a:p>
          <a:p>
            <a:pPr indent="-311150" lvl="0" marL="457200" rtl="0" algn="l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SzPts val="1300"/>
              <a:buChar char="●"/>
            </a:pPr>
            <a:r>
              <a:rPr lang="es" sz="1300"/>
              <a:t>Recorria pagos con QR, </a:t>
            </a:r>
            <a:r>
              <a:rPr lang="es"/>
              <a:t>débitos</a:t>
            </a:r>
            <a:r>
              <a:rPr lang="es" sz="1300"/>
              <a:t> y ventas sin distinguirlos, y cada </a:t>
            </a:r>
            <a:r>
              <a:rPr lang="es" sz="1300">
                <a:latin typeface="Courier New"/>
                <a:ea typeface="Courier New"/>
                <a:cs typeface="Courier New"/>
                <a:sym typeface="Courier New"/>
              </a:rPr>
              <a:t>anular()</a:t>
            </a:r>
            <a:r>
              <a:rPr lang="es" sz="1300"/>
              <a:t> hacia algo distinto.</a:t>
            </a:r>
            <a:endParaRPr/>
          </a:p>
          <a:p>
            <a:pPr indent="-311150" lvl="0" marL="457200" rtl="0" algn="l">
              <a:lnSpc>
                <a:spcPct val="114999"/>
              </a:lnSpc>
              <a:spcBef>
                <a:spcPts val="600"/>
              </a:spcBef>
              <a:spcAft>
                <a:spcPts val="600"/>
              </a:spcAft>
              <a:buSzPts val="1300"/>
              <a:buChar char="●"/>
            </a:pPr>
            <a:r>
              <a:rPr lang="es" sz="1300"/>
              <a:t>La </a:t>
            </a:r>
            <a:r>
              <a:rPr lang="es"/>
              <a:t>única</a:t>
            </a:r>
            <a:r>
              <a:rPr lang="es" sz="1300"/>
              <a:t> diferencia: ahi el tipo común </a:t>
            </a:r>
            <a:r>
              <a:rPr lang="es"/>
              <a:t>venía</a:t>
            </a:r>
            <a:r>
              <a:rPr lang="es" sz="1300"/>
              <a:t> de un contrato, no de una superclase.</a:t>
            </a:r>
            <a:endParaRPr/>
          </a:p>
        </p:txBody>
      </p:sp>
      <p:sp>
        <p:nvSpPr>
          <p:cNvPr id="190" name="Google Shape;190;p32"/>
          <p:cNvSpPr txBox="1"/>
          <p:nvPr>
            <p:ph idx="1" type="body"/>
          </p:nvPr>
        </p:nvSpPr>
        <p:spPr>
          <a:xfrm>
            <a:off x="729450" y="4180000"/>
            <a:ext cx="76887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600"/>
              </a:spcAft>
              <a:buSzPts val="1300"/>
              <a:buNone/>
            </a:pPr>
            <a:r>
              <a:rPr b="1" lang="es" sz="1300"/>
              <a:t>Herencia o interfaz, el mecanismo es el mismo: programar contra la abstracción.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/>
          <p:nvPr>
            <p:ph type="title"/>
          </p:nvPr>
        </p:nvSpPr>
        <p:spPr>
          <a:xfrm>
            <a:off x="727650" y="632399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2600"/>
              <a:buNone/>
            </a:pPr>
            <a:r>
              <a:rPr lang="es"/>
              <a:t>Los dos polimorfismos</a:t>
            </a:r>
            <a:endParaRPr/>
          </a:p>
        </p:txBody>
      </p:sp>
      <p:sp>
        <p:nvSpPr>
          <p:cNvPr id="197" name="Google Shape;197;p33"/>
          <p:cNvSpPr txBox="1"/>
          <p:nvPr>
            <p:ph idx="1" type="body"/>
          </p:nvPr>
        </p:nvSpPr>
        <p:spPr>
          <a:xfrm>
            <a:off x="729450" y="1560000"/>
            <a:ext cx="3720000" cy="2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" sz="1400"/>
              <a:t>Sobrecarga (estático)</a:t>
            </a:r>
            <a:endParaRPr/>
          </a:p>
          <a:p>
            <a:pPr indent="-311150" lvl="0" marL="457200" rtl="0" algn="l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s" sz="1300"/>
              <a:t>Varios métodos con el </a:t>
            </a:r>
            <a:r>
              <a:rPr b="1" lang="es" sz="1300"/>
              <a:t>mismo nombre</a:t>
            </a:r>
            <a:r>
              <a:rPr lang="es" sz="1300"/>
              <a:t> en la misma clase.</a:t>
            </a:r>
            <a:endParaRPr/>
          </a:p>
          <a:p>
            <a:pPr indent="-311150" lvl="0" marL="457200" rtl="0" algn="l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SzPts val="1300"/>
              <a:buChar char="●"/>
            </a:pPr>
            <a:r>
              <a:rPr lang="es" sz="1300"/>
              <a:t>Cambia la lista de parámetros.</a:t>
            </a:r>
            <a:endParaRPr/>
          </a:p>
          <a:p>
            <a:pPr indent="-311150" lvl="0" marL="457200" rtl="0" algn="l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SzPts val="1300"/>
              <a:buChar char="●"/>
            </a:pPr>
            <a:r>
              <a:rPr lang="es" sz="1300"/>
              <a:t>Decide el </a:t>
            </a:r>
            <a:r>
              <a:rPr b="1" lang="es" sz="1300"/>
              <a:t>compilador</a:t>
            </a:r>
            <a:r>
              <a:rPr lang="es" sz="1300"/>
              <a:t>, mirando los argumentos.</a:t>
            </a:r>
            <a:endParaRPr/>
          </a:p>
          <a:p>
            <a:pPr indent="-311150" lvl="0" marL="457200" rtl="0" algn="l">
              <a:lnSpc>
                <a:spcPct val="114999"/>
              </a:lnSpc>
              <a:spcBef>
                <a:spcPts val="600"/>
              </a:spcBef>
              <a:spcAft>
                <a:spcPts val="600"/>
              </a:spcAft>
              <a:buSzPts val="1300"/>
              <a:buChar char="●"/>
            </a:pPr>
            <a:r>
              <a:rPr lang="es" sz="1300"/>
              <a:t>Ejemplo: </a:t>
            </a:r>
            <a:r>
              <a:rPr lang="es" sz="1300">
                <a:latin typeface="Courier New"/>
                <a:ea typeface="Courier New"/>
                <a:cs typeface="Courier New"/>
                <a:sym typeface="Courier New"/>
              </a:rPr>
              <a:t>System.out.println</a:t>
            </a:r>
            <a:r>
              <a:rPr lang="es" sz="1300"/>
              <a:t>.</a:t>
            </a:r>
            <a:endParaRPr/>
          </a:p>
        </p:txBody>
      </p:sp>
      <p:sp>
        <p:nvSpPr>
          <p:cNvPr id="198" name="Google Shape;198;p33"/>
          <p:cNvSpPr txBox="1"/>
          <p:nvPr>
            <p:ph idx="2" type="body"/>
          </p:nvPr>
        </p:nvSpPr>
        <p:spPr>
          <a:xfrm>
            <a:off x="4698150" y="1560000"/>
            <a:ext cx="3720000" cy="2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" sz="1400"/>
              <a:t>Sobrescritura (</a:t>
            </a:r>
            <a:r>
              <a:rPr b="1" lang="es" sz="1400"/>
              <a:t>dinámico</a:t>
            </a:r>
            <a:r>
              <a:rPr b="1" lang="es" sz="1400"/>
              <a:t>)</a:t>
            </a:r>
            <a:endParaRPr/>
          </a:p>
          <a:p>
            <a:pPr indent="-311150" lvl="0" marL="457200" rtl="0" algn="l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s" sz="1300"/>
              <a:t>El mismo </a:t>
            </a:r>
            <a:r>
              <a:rPr lang="es"/>
              <a:t>método</a:t>
            </a:r>
            <a:r>
              <a:rPr lang="es" sz="1300"/>
              <a:t> en la superclase y en la subclase.</a:t>
            </a:r>
            <a:endParaRPr/>
          </a:p>
          <a:p>
            <a:pPr indent="-311150" lvl="0" marL="457200" rtl="0" algn="l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SzPts val="1300"/>
              <a:buChar char="●"/>
            </a:pPr>
            <a:r>
              <a:rPr lang="es" sz="1300"/>
              <a:t>La firma es </a:t>
            </a:r>
            <a:r>
              <a:rPr b="1" lang="es"/>
              <a:t>idéntica</a:t>
            </a:r>
            <a:r>
              <a:rPr lang="es" sz="1300"/>
              <a:t>.</a:t>
            </a:r>
            <a:endParaRPr/>
          </a:p>
          <a:p>
            <a:pPr indent="-311150" lvl="0" marL="457200" rtl="0" algn="l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SzPts val="1300"/>
              <a:buChar char="●"/>
            </a:pPr>
            <a:r>
              <a:rPr lang="es" sz="1300"/>
              <a:t>Decide la </a:t>
            </a:r>
            <a:r>
              <a:rPr b="1" lang="es" sz="1300"/>
              <a:t>ejecución</a:t>
            </a:r>
            <a:r>
              <a:rPr lang="es" sz="1300"/>
              <a:t>, mirando el objeto.</a:t>
            </a:r>
            <a:endParaRPr/>
          </a:p>
          <a:p>
            <a:pPr indent="-311150" lvl="0" marL="457200" rtl="0" algn="l">
              <a:lnSpc>
                <a:spcPct val="114999"/>
              </a:lnSpc>
              <a:spcBef>
                <a:spcPts val="600"/>
              </a:spcBef>
              <a:spcAft>
                <a:spcPts val="600"/>
              </a:spcAft>
              <a:buSzPts val="1300"/>
              <a:buChar char="●"/>
            </a:pPr>
            <a:r>
              <a:rPr lang="es" sz="1300"/>
              <a:t>Ejemplo: </a:t>
            </a:r>
            <a:r>
              <a:rPr lang="es" sz="1300">
                <a:latin typeface="Courier New"/>
                <a:ea typeface="Courier New"/>
                <a:cs typeface="Courier New"/>
                <a:sym typeface="Courier New"/>
              </a:rPr>
              <a:t>mostrarComprobante()</a:t>
            </a:r>
            <a:r>
              <a:rPr lang="es" sz="1300"/>
              <a:t>.</a:t>
            </a:r>
            <a:endParaRPr/>
          </a:p>
        </p:txBody>
      </p:sp>
      <p:sp>
        <p:nvSpPr>
          <p:cNvPr id="199" name="Google Shape;199;p33"/>
          <p:cNvSpPr txBox="1"/>
          <p:nvPr>
            <p:ph idx="1" type="body"/>
          </p:nvPr>
        </p:nvSpPr>
        <p:spPr>
          <a:xfrm>
            <a:off x="729450" y="4180000"/>
            <a:ext cx="76887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600"/>
              </a:spcAft>
              <a:buSzPts val="1300"/>
              <a:buNone/>
            </a:pPr>
            <a:r>
              <a:rPr b="1" lang="es" sz="1300"/>
              <a:t>Los dos se llaman polimorfismo. El que sostiene el diseño orientado a objetos es el segundo.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/>
          <p:nvPr>
            <p:ph type="title"/>
          </p:nvPr>
        </p:nvSpPr>
        <p:spPr>
          <a:xfrm>
            <a:off x="729450" y="632399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es"/>
              <a:t>Dos cosas que NO son </a:t>
            </a:r>
            <a:r>
              <a:rPr lang="es"/>
              <a:t>polimórficas</a:t>
            </a:r>
            <a:endParaRPr/>
          </a:p>
        </p:txBody>
      </p:sp>
      <p:sp>
        <p:nvSpPr>
          <p:cNvPr id="206" name="Google Shape;206;p34"/>
          <p:cNvSpPr txBox="1"/>
          <p:nvPr>
            <p:ph idx="1" type="body"/>
          </p:nvPr>
        </p:nvSpPr>
        <p:spPr>
          <a:xfrm>
            <a:off x="729450" y="1560000"/>
            <a:ext cx="7688700" cy="2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 sz="1300"/>
              <a:t>Los </a:t>
            </a:r>
            <a:r>
              <a:rPr b="1" lang="es" sz="1300"/>
              <a:t>atributos</a:t>
            </a:r>
            <a:r>
              <a:rPr lang="es" sz="1300"/>
              <a:t> no se sobrescriben. Si el padre y el hijo declaran el mismo nombre, conviven los dos, y el que se usa depende del tipo de la </a:t>
            </a:r>
            <a:r>
              <a:rPr b="1" lang="es" sz="1300"/>
              <a:t>variable</a:t>
            </a:r>
            <a:r>
              <a:rPr lang="es" sz="1300"/>
              <a:t>.</a:t>
            </a:r>
            <a:endParaRPr/>
          </a:p>
          <a:p>
            <a:pPr indent="-311150" lvl="0" marL="457200" rtl="0" algn="l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SzPts val="1300"/>
              <a:buChar char="●"/>
            </a:pPr>
            <a:r>
              <a:rPr lang="es" sz="1300"/>
              <a:t>Otra </a:t>
            </a:r>
            <a:r>
              <a:rPr lang="es"/>
              <a:t>razón</a:t>
            </a:r>
            <a:r>
              <a:rPr lang="es" sz="1300"/>
              <a:t> </a:t>
            </a:r>
            <a:r>
              <a:rPr lang="es"/>
              <a:t>más</a:t>
            </a:r>
            <a:r>
              <a:rPr lang="es" sz="1300"/>
              <a:t> para lo mismo de siempre: los atributos van </a:t>
            </a:r>
            <a:r>
              <a:rPr lang="es" sz="1300"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es" sz="1300"/>
              <a:t>.</a:t>
            </a:r>
            <a:endParaRPr/>
          </a:p>
          <a:p>
            <a:pPr indent="-311150" lvl="0" marL="457200" rtl="0" algn="l">
              <a:lnSpc>
                <a:spcPct val="114999"/>
              </a:lnSpc>
              <a:spcBef>
                <a:spcPts val="600"/>
              </a:spcBef>
              <a:spcAft>
                <a:spcPts val="600"/>
              </a:spcAft>
              <a:buSzPts val="1300"/>
              <a:buChar char="●"/>
            </a:pPr>
            <a:r>
              <a:rPr lang="es" sz="1300"/>
              <a:t>Los </a:t>
            </a:r>
            <a:r>
              <a:rPr lang="es"/>
              <a:t>métodos</a:t>
            </a:r>
            <a:r>
              <a:rPr lang="es" sz="1300"/>
              <a:t> </a:t>
            </a:r>
            <a:r>
              <a:rPr b="1" lang="es" sz="1300"/>
              <a:t>static</a:t>
            </a:r>
            <a:r>
              <a:rPr lang="es" sz="1300"/>
              <a:t> tampoco. Pertenecen a la clase, no al objeto. La subclase no los sobrescribe: los tapa.</a:t>
            </a:r>
            <a:endParaRPr/>
          </a:p>
        </p:txBody>
      </p:sp>
      <p:sp>
        <p:nvSpPr>
          <p:cNvPr id="207" name="Google Shape;207;p34"/>
          <p:cNvSpPr txBox="1"/>
          <p:nvPr>
            <p:ph idx="1" type="body"/>
          </p:nvPr>
        </p:nvSpPr>
        <p:spPr>
          <a:xfrm>
            <a:off x="729450" y="4180000"/>
            <a:ext cx="76887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600"/>
              </a:spcAft>
              <a:buSzPts val="1300"/>
              <a:buNone/>
            </a:pPr>
            <a:r>
              <a:rPr b="1" lang="es" sz="1300"/>
              <a:t>El enlace </a:t>
            </a:r>
            <a:r>
              <a:rPr b="1" lang="es"/>
              <a:t>dinámico</a:t>
            </a:r>
            <a:r>
              <a:rPr b="1" lang="es" sz="1300"/>
              <a:t> vale para los </a:t>
            </a:r>
            <a:r>
              <a:rPr b="1" lang="es"/>
              <a:t>métodos</a:t>
            </a:r>
            <a:r>
              <a:rPr b="1" lang="es" sz="1300"/>
              <a:t> de instancia, y solo para ellos.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/>
          <p:nvPr>
            <p:ph type="title"/>
          </p:nvPr>
        </p:nvSpPr>
        <p:spPr>
          <a:xfrm>
            <a:off x="729450" y="632399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2600"/>
              <a:buNone/>
            </a:pPr>
            <a:r>
              <a:rPr lang="es"/>
              <a:t>La actividad de hoy</a:t>
            </a:r>
            <a:endParaRPr/>
          </a:p>
        </p:txBody>
      </p:sp>
      <p:sp>
        <p:nvSpPr>
          <p:cNvPr id="214" name="Google Shape;214;p35"/>
          <p:cNvSpPr txBox="1"/>
          <p:nvPr>
            <p:ph idx="1" type="body"/>
          </p:nvPr>
        </p:nvSpPr>
        <p:spPr>
          <a:xfrm>
            <a:off x="729450" y="1560000"/>
            <a:ext cx="7688700" cy="2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 sz="1300"/>
              <a:t>Se sigue con la tienda. Ninguna clase del </a:t>
            </a:r>
            <a:r>
              <a:rPr lang="es"/>
              <a:t>catálogo</a:t>
            </a:r>
            <a:r>
              <a:rPr lang="es" sz="1300"/>
              <a:t> se toca: el unico archivo que se modifica es </a:t>
            </a:r>
            <a:r>
              <a:rPr lang="es" sz="1300">
                <a:latin typeface="Courier New"/>
                <a:ea typeface="Courier New"/>
                <a:cs typeface="Courier New"/>
                <a:sym typeface="Courier New"/>
              </a:rPr>
              <a:t>Tienda.java</a:t>
            </a:r>
            <a:r>
              <a:rPr lang="es" sz="1300"/>
              <a:t>.</a:t>
            </a:r>
            <a:endParaRPr/>
          </a:p>
          <a:p>
            <a:pPr indent="-311150" lvl="0" marL="457200" rtl="0" algn="l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SzPts val="1300"/>
              <a:buChar char="●"/>
            </a:pPr>
            <a:r>
              <a:rPr b="1" lang="es" sz="1300"/>
              <a:t>Parte 1</a:t>
            </a:r>
            <a:r>
              <a:rPr lang="es" sz="1300"/>
              <a:t>: contar cuantos lugares hay que tocar para sumar un tipo de producto nuevo.</a:t>
            </a:r>
            <a:endParaRPr/>
          </a:p>
          <a:p>
            <a:pPr indent="-311150" lvl="0" marL="457200" rtl="0" algn="l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SzPts val="1300"/>
              <a:buChar char="●"/>
            </a:pPr>
            <a:r>
              <a:rPr b="1" lang="es" sz="1300"/>
              <a:t>Parte 2</a:t>
            </a:r>
            <a:r>
              <a:rPr lang="es" sz="1300"/>
              <a:t>: las tres listas y los tres bucles pasan a ser un </a:t>
            </a:r>
            <a:r>
              <a:rPr lang="es" sz="1300">
                <a:latin typeface="Courier New"/>
                <a:ea typeface="Courier New"/>
                <a:cs typeface="Courier New"/>
                <a:sym typeface="Courier New"/>
              </a:rPr>
              <a:t>ArrayList&lt;Producto&gt;</a:t>
            </a:r>
            <a:r>
              <a:rPr lang="es" sz="1300"/>
              <a:t> y un bucle.</a:t>
            </a:r>
            <a:endParaRPr/>
          </a:p>
          <a:p>
            <a:pPr indent="-311150" lvl="0" marL="457200" rtl="0" algn="l">
              <a:lnSpc>
                <a:spcPct val="114999"/>
              </a:lnSpc>
              <a:spcBef>
                <a:spcPts val="600"/>
              </a:spcBef>
              <a:spcAft>
                <a:spcPts val="600"/>
              </a:spcAft>
              <a:buSzPts val="1300"/>
              <a:buChar char="●"/>
            </a:pPr>
            <a:r>
              <a:rPr b="1" lang="es" sz="1300"/>
              <a:t>Parte 3</a:t>
            </a:r>
            <a:r>
              <a:rPr lang="es" sz="1300"/>
              <a:t>: escribir </a:t>
            </a:r>
            <a:r>
              <a:rPr lang="es" sz="1300">
                <a:latin typeface="Courier New"/>
                <a:ea typeface="Courier New"/>
                <a:cs typeface="Courier New"/>
                <a:sym typeface="Courier New"/>
              </a:rPr>
              <a:t>Indumentaria</a:t>
            </a:r>
            <a:r>
              <a:rPr lang="es" sz="1300"/>
              <a:t> y sumarla al </a:t>
            </a:r>
            <a:r>
              <a:rPr lang="es"/>
              <a:t>catálogo</a:t>
            </a:r>
            <a:r>
              <a:rPr lang="es" sz="1300"/>
              <a:t>. Contar cuantos metodos hubo que cambiar.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